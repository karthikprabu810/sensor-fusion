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0" r:id="rId15"/>
    <p:sldId id="273" r:id="rId16"/>
    <p:sldId id="268" r:id="rId17"/>
    <p:sldId id="269" r:id="rId18"/>
    <p:sldId id="27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697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rthikprabu810/sensor-fusion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4572000"/>
            <a:ext cx="9144000" cy="10058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0" y="4672584"/>
            <a:ext cx="9144000" cy="4709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1E3540"/>
                </a:solidFill>
                <a:ea typeface="+mn-lt"/>
                <a:cs typeface="+mn-lt"/>
              </a:rPr>
              <a:t>Multi-Modal SLAM Proxy: Fusing 2D LiDAR and Depth Camera for Robust Mapping</a:t>
            </a:r>
            <a:endParaRPr lang="en-US" sz="28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921724"/>
            <a:ext cx="82296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>
                <a:solidFill>
                  <a:srgbClr val="0B6070"/>
                </a:solidFill>
                <a:latin typeface="Calibri"/>
                <a:ea typeface="Calibri"/>
                <a:cs typeface="Calibri"/>
              </a:rPr>
              <a:t>Sensor Fusion for Autonomous Robot Navigation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50292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6858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5A7A84"/>
                </a:solidFill>
                <a:latin typeface="Calibri"/>
                <a:ea typeface="Calibri"/>
                <a:cs typeface="Calibri"/>
              </a:rPr>
              <a:t> ROS 2 Humble · RTAB-Map · LiDAR + RGB-D + IMU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685800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1E3540"/>
                </a:solidFill>
                <a:latin typeface="Calibri"/>
                <a:ea typeface="Calibri"/>
                <a:cs typeface="Calibri"/>
              </a:rPr>
              <a:t>Karthik Prabu Natarajan (1564587)  ·  Snehamol Sunny (1568233)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D8011D5-B3F8-5533-14E2-0B828CD0880A}"/>
              </a:ext>
            </a:extLst>
          </p:cNvPr>
          <p:cNvSpPr/>
          <p:nvPr/>
        </p:nvSpPr>
        <p:spPr>
          <a:xfrm>
            <a:off x="502920" y="3847308"/>
            <a:ext cx="685800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1E3540"/>
                </a:solidFill>
                <a:latin typeface="Calibri"/>
                <a:ea typeface="Calibri"/>
                <a:cs typeface="Calibri"/>
              </a:rPr>
              <a:t>Invigilator: Prof. Dr. Peter Nauth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OVERVIEW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19456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30352" y="14996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6070"/>
                </a:solidFill>
              </a:rPr>
              <a:t>🎯  Objective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530352" y="182880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3540"/>
                </a:solidFill>
              </a:rPr>
              <a:t>Build and evaluate a multi-modal sensor fusion SLAM architecture in a simulated warehouse environment using ROS 2 and Gazebo.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919472" y="14996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6070"/>
                </a:solidFill>
              </a:rPr>
              <a:t>⚙️  Platform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4919472" y="182880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3540"/>
                </a:solidFill>
              </a:rPr>
              <a:t>BCR Bot — open-source differential drive robot using 2D LiDAR, RGB-D camera, and IMU sensors.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30352" y="30998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6070"/>
                </a:solidFill>
              </a:rPr>
              <a:t>🔗  Approach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530352" y="3429000"/>
            <a:ext cx="3840480" cy="8046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3540"/>
                </a:solidFill>
              </a:rPr>
              <a:t>Fuse complementary sensing technologies via EKF + RTAB-Map to improve robustness of simultaneous localization and mapping.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754880" y="297180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4919472" y="30998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6070"/>
                </a:solidFill>
              </a:rPr>
              <a:t>🧪  Evaluation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4919472" y="342900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3540"/>
                </a:solidFill>
              </a:rPr>
              <a:t>Compare multi-modal vs single-sensor configurations across map quality, trajectory stability, loop closure, and CPU efficiency.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SYSTEM DESIGN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19456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1920240" cy="640080"/>
          </a:xfrm>
          <a:prstGeom prst="rect">
            <a:avLst/>
          </a:prstGeom>
          <a:solidFill>
            <a:srgbClr val="0B7285"/>
          </a:solidFill>
          <a:ln w="12700">
            <a:solidFill>
              <a:srgbClr val="0B6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2D LiDAR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274320" y="1618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</a:rPr>
              <a:t>/scan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2423160" y="1298448"/>
            <a:ext cx="1920240" cy="640080"/>
          </a:xfrm>
          <a:prstGeom prst="rect">
            <a:avLst/>
          </a:prstGeom>
          <a:solidFill>
            <a:srgbClr val="0B7285"/>
          </a:solidFill>
          <a:ln w="12700">
            <a:solidFill>
              <a:srgbClr val="0B6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423160" y="1298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RGB-D Camera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2423160" y="1618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</a:rPr>
              <a:t>/depth/image_raw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</a:rPr>
              <a:t>/rgb/image_raw</a:t>
            </a:r>
            <a:endParaRPr lang="en-US" sz="800"/>
          </a:p>
        </p:txBody>
      </p:sp>
      <p:sp>
        <p:nvSpPr>
          <p:cNvPr id="12" name="Shape 10"/>
          <p:cNvSpPr/>
          <p:nvPr/>
        </p:nvSpPr>
        <p:spPr>
          <a:xfrm>
            <a:off x="4572000" y="1298448"/>
            <a:ext cx="1920240" cy="640080"/>
          </a:xfrm>
          <a:prstGeom prst="rect">
            <a:avLst/>
          </a:prstGeom>
          <a:solidFill>
            <a:srgbClr val="0B7285"/>
          </a:solidFill>
          <a:ln w="12700">
            <a:solidFill>
              <a:srgbClr val="0B6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572000" y="1298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IMU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572000" y="1618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</a:rPr>
              <a:t>/imu</a:t>
            </a:r>
            <a:endParaRPr lang="en-US" sz="800"/>
          </a:p>
        </p:txBody>
      </p:sp>
      <p:sp>
        <p:nvSpPr>
          <p:cNvPr id="15" name="Shape 13"/>
          <p:cNvSpPr/>
          <p:nvPr/>
        </p:nvSpPr>
        <p:spPr>
          <a:xfrm>
            <a:off x="6720840" y="1298448"/>
            <a:ext cx="1920240" cy="640080"/>
          </a:xfrm>
          <a:prstGeom prst="rect">
            <a:avLst/>
          </a:prstGeom>
          <a:solidFill>
            <a:srgbClr val="0B7285"/>
          </a:solidFill>
          <a:ln w="12700">
            <a:solidFill>
              <a:srgbClr val="0B6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720840" y="1298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Wheel Odom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6720840" y="1618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</a:rPr>
              <a:t>/odom</a:t>
            </a:r>
            <a:endParaRPr lang="en-US" sz="800"/>
          </a:p>
        </p:txBody>
      </p:sp>
      <p:sp>
        <p:nvSpPr>
          <p:cNvPr id="18" name="Shape 16"/>
          <p:cNvSpPr/>
          <p:nvPr/>
        </p:nvSpPr>
        <p:spPr>
          <a:xfrm>
            <a:off x="1234440" y="1938528"/>
            <a:ext cx="0" cy="27432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3383280" y="1938528"/>
            <a:ext cx="0" cy="27432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5532120" y="1938528"/>
            <a:ext cx="0" cy="27432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7680960" y="1938528"/>
            <a:ext cx="0" cy="27432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2103120" y="2212848"/>
            <a:ext cx="3108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2103120" y="221284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897B"/>
                </a:solidFill>
              </a:rPr>
              <a:t>EKF Odometry Fusion</a:t>
            </a:r>
            <a:endParaRPr lang="en-US" sz="1300"/>
          </a:p>
        </p:txBody>
      </p:sp>
      <p:sp>
        <p:nvSpPr>
          <p:cNvPr id="24" name="Shape 22"/>
          <p:cNvSpPr/>
          <p:nvPr/>
        </p:nvSpPr>
        <p:spPr>
          <a:xfrm>
            <a:off x="1234440" y="1938528"/>
            <a:ext cx="0" cy="658368"/>
          </a:xfrm>
          <a:prstGeom prst="line">
            <a:avLst/>
          </a:prstGeom>
          <a:noFill/>
          <a:ln w="19050">
            <a:solidFill>
              <a:srgbClr val="5A7A84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572000" y="2807208"/>
            <a:ext cx="0" cy="27432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1920240" y="3081528"/>
            <a:ext cx="5303520" cy="685800"/>
          </a:xfrm>
          <a:prstGeom prst="rect">
            <a:avLst/>
          </a:prstGeom>
          <a:solidFill>
            <a:srgbClr val="D8EDF2"/>
          </a:solidFill>
          <a:ln w="254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1920240" y="30815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RTAB-Map  (Graph-Based SLAM)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1920240" y="34015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0B6070"/>
                </a:solidFill>
              </a:rPr>
              <a:t>Visual odometry · Loop closure · Pose graph optimization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1600200" y="3767328"/>
            <a:ext cx="0" cy="256032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594360" y="4023360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594360" y="40233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3540"/>
                </a:solidFill>
              </a:rPr>
              <a:t>Occupancy Map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1E3540"/>
                </a:solidFill>
              </a:rPr>
              <a:t>/map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4389120" y="3767328"/>
            <a:ext cx="0" cy="256032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3383280" y="4023360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3383280" y="4023360"/>
            <a:ext cx="246888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3540"/>
                </a:solidFill>
              </a:rPr>
              <a:t>Pose Estimate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1E3540"/>
                </a:solidFill>
              </a:rPr>
              <a:t>/</a:t>
            </a:r>
            <a:r>
              <a:rPr lang="en-US" sz="1000" err="1">
                <a:solidFill>
                  <a:srgbClr val="1E3540"/>
                </a:solidFill>
              </a:rPr>
              <a:t>localization_pose</a:t>
            </a:r>
            <a:endParaRPr lang="en-US" sz="1000" err="1"/>
          </a:p>
        </p:txBody>
      </p:sp>
      <p:sp>
        <p:nvSpPr>
          <p:cNvPr id="35" name="Shape 33"/>
          <p:cNvSpPr/>
          <p:nvPr/>
        </p:nvSpPr>
        <p:spPr>
          <a:xfrm>
            <a:off x="7178040" y="3767328"/>
            <a:ext cx="0" cy="256032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6172200" y="4023360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6172200" y="40233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3540"/>
                </a:solidFill>
              </a:rPr>
              <a:t>Loop Closures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1E3540"/>
                </a:solidFill>
              </a:rPr>
              <a:t>/rtabmap/loop_closure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METHODOLOGY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Suite &amp; EKF Fusion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19456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697480" cy="82296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📡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EF2F3"/>
                </a:solidFill>
              </a:rPr>
              <a:t>2D LiDAR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11480" y="2176272"/>
            <a:ext cx="2514600" cy="256032"/>
          </a:xfrm>
          <a:prstGeom prst="rect">
            <a:avLst/>
          </a:prstGeom>
          <a:solidFill>
            <a:srgbClr val="F5F9FA"/>
          </a:solidFill>
          <a:ln w="1270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11480" y="2176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B7285"/>
                </a:solidFill>
                <a:latin typeface="Consolas"/>
                <a:ea typeface="Consolas" pitchFamily="34" charset="-122"/>
                <a:cs typeface="Consolas" pitchFamily="34" charset="-120"/>
              </a:rPr>
              <a:t>/scan</a:t>
            </a:r>
            <a:endParaRPr lang="en-US" sz="750">
              <a:latin typeface="Consola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2505456"/>
            <a:ext cx="20574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40080" y="250545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B7285"/>
                </a:solidFill>
              </a:rPr>
              <a:t>✦  10 Hz planar scans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411480" y="2834640"/>
            <a:ext cx="2514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84632" y="2834640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7A84"/>
                </a:solidFill>
              </a:rPr>
              <a:t>Primary role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1645920" y="28346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3540"/>
                </a:solidFill>
              </a:rPr>
              <a:t>Loop Closure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411480" y="3218688"/>
            <a:ext cx="2514600" cy="329184"/>
          </a:xfrm>
          <a:prstGeom prst="rect">
            <a:avLst/>
          </a:prstGeom>
          <a:solidFill>
            <a:srgbClr val="F0F4F5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84632" y="3218688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7A84"/>
                </a:solidFill>
              </a:rPr>
              <a:t>Key strength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1645920" y="321868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3540"/>
                </a:solidFill>
              </a:rPr>
              <a:t>Works in darkness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411480" y="3602736"/>
            <a:ext cx="2514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84632" y="3602736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7A84"/>
                </a:solidFill>
              </a:rPr>
              <a:t>Output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1645920" y="36027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3540"/>
                </a:solidFill>
              </a:rPr>
              <a:t>Geometric constraints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411480" y="4005072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5A7A84"/>
                </a:solidFill>
              </a:rPr>
              <a:t>Captures surrounding geometry via laser ranging. Forms the backbone for scan matching and structural consistency checks.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3200400" y="1298448"/>
            <a:ext cx="2697480" cy="822960"/>
          </a:xfrm>
          <a:prstGeom prst="rect">
            <a:avLst/>
          </a:prstGeom>
          <a:solidFill>
            <a:srgbClr val="0B6070"/>
          </a:solidFill>
          <a:ln w="12700">
            <a:solidFill>
              <a:srgbClr val="0B6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3200400" y="13258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📷</a:t>
            </a:r>
            <a:endParaRPr lang="en-US" sz="2200"/>
          </a:p>
        </p:txBody>
      </p:sp>
      <p:sp>
        <p:nvSpPr>
          <p:cNvPr id="25" name="Text 23"/>
          <p:cNvSpPr/>
          <p:nvPr/>
        </p:nvSpPr>
        <p:spPr>
          <a:xfrm>
            <a:off x="3200400" y="166420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EF2F3"/>
                </a:solidFill>
              </a:rPr>
              <a:t>RGB-D Camera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3291840" y="2176272"/>
            <a:ext cx="2514600" cy="256032"/>
          </a:xfrm>
          <a:prstGeom prst="rect">
            <a:avLst/>
          </a:prstGeom>
          <a:solidFill>
            <a:srgbClr val="F5F9FA"/>
          </a:solidFill>
          <a:ln w="1270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3291840" y="2176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B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/depth  +  /rgb</a:t>
            </a:r>
            <a:endParaRPr lang="en-US" sz="750"/>
          </a:p>
        </p:txBody>
      </p:sp>
      <p:sp>
        <p:nvSpPr>
          <p:cNvPr id="28" name="Shape 26"/>
          <p:cNvSpPr/>
          <p:nvPr/>
        </p:nvSpPr>
        <p:spPr>
          <a:xfrm>
            <a:off x="3520440" y="2505456"/>
            <a:ext cx="20574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0B60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3520440" y="250545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B6070"/>
                </a:solidFill>
              </a:rPr>
              <a:t>✦  Dense depth + color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3291840" y="2834640"/>
            <a:ext cx="2514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3364992" y="2834640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7A84"/>
                </a:solidFill>
              </a:rPr>
              <a:t>Primary role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4526280" y="28346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3540"/>
                </a:solidFill>
              </a:rPr>
              <a:t>Visual Odometry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3291840" y="3218688"/>
            <a:ext cx="2514600" cy="329184"/>
          </a:xfrm>
          <a:prstGeom prst="rect">
            <a:avLst/>
          </a:prstGeom>
          <a:solidFill>
            <a:srgbClr val="F0F4F5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3364992" y="3218688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7A84"/>
                </a:solidFill>
              </a:rPr>
              <a:t>Key strength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4526280" y="321868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3540"/>
                </a:solidFill>
              </a:rPr>
              <a:t>Feature-rich motion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3291840" y="3602736"/>
            <a:ext cx="2514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3364992" y="3602736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7A84"/>
                </a:solidFill>
              </a:rPr>
              <a:t>Output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4526280" y="36027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3540"/>
                </a:solidFill>
              </a:rPr>
              <a:t>Frame-to-frame pose</a:t>
            </a:r>
            <a:endParaRPr lang="en-US" sz="900"/>
          </a:p>
        </p:txBody>
      </p:sp>
      <p:sp>
        <p:nvSpPr>
          <p:cNvPr id="39" name="Text 37"/>
          <p:cNvSpPr/>
          <p:nvPr/>
        </p:nvSpPr>
        <p:spPr>
          <a:xfrm>
            <a:off x="3291840" y="4005072"/>
            <a:ext cx="2514600" cy="8046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5A7A84"/>
                </a:solidFill>
              </a:rPr>
              <a:t>Generates synchronized color and depth images for visual odometry and environmental representation.</a:t>
            </a:r>
            <a:endParaRPr lang="en-US" sz="950"/>
          </a:p>
        </p:txBody>
      </p:sp>
      <p:sp>
        <p:nvSpPr>
          <p:cNvPr id="40" name="Shape 38"/>
          <p:cNvSpPr/>
          <p:nvPr/>
        </p:nvSpPr>
        <p:spPr>
          <a:xfrm>
            <a:off x="6080760" y="1298448"/>
            <a:ext cx="2697480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6080760" y="13258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🔩</a:t>
            </a:r>
            <a:endParaRPr lang="en-US" sz="2200"/>
          </a:p>
        </p:txBody>
      </p:sp>
      <p:sp>
        <p:nvSpPr>
          <p:cNvPr id="42" name="Text 40"/>
          <p:cNvSpPr/>
          <p:nvPr/>
        </p:nvSpPr>
        <p:spPr>
          <a:xfrm>
            <a:off x="6080760" y="166420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EF2F3"/>
                </a:solidFill>
              </a:rPr>
              <a:t>IMU + Wheel Odom</a:t>
            </a:r>
            <a:endParaRPr lang="en-US" sz="1200"/>
          </a:p>
        </p:txBody>
      </p:sp>
      <p:sp>
        <p:nvSpPr>
          <p:cNvPr id="43" name="Shape 41"/>
          <p:cNvSpPr/>
          <p:nvPr/>
        </p:nvSpPr>
        <p:spPr>
          <a:xfrm>
            <a:off x="6172200" y="2176272"/>
            <a:ext cx="2514600" cy="256032"/>
          </a:xfrm>
          <a:prstGeom prst="rect">
            <a:avLst/>
          </a:prstGeom>
          <a:solidFill>
            <a:srgbClr val="F5F9FA"/>
          </a:solidFill>
          <a:ln w="1270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6172200" y="2176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0897B"/>
                </a:solidFill>
                <a:latin typeface="Consolas"/>
                <a:ea typeface="Consolas" pitchFamily="34" charset="-122"/>
                <a:cs typeface="Consolas" pitchFamily="34" charset="-120"/>
              </a:rPr>
              <a:t>/imu  +  /</a:t>
            </a:r>
            <a:r>
              <a:rPr lang="en-US" sz="750" err="1">
                <a:solidFill>
                  <a:srgbClr val="00897B"/>
                </a:solidFill>
                <a:latin typeface="Consolas"/>
                <a:ea typeface="Consolas" pitchFamily="34" charset="-122"/>
                <a:cs typeface="Consolas" pitchFamily="34" charset="-120"/>
              </a:rPr>
              <a:t>odom</a:t>
            </a:r>
            <a:endParaRPr lang="en-US" sz="750" err="1">
              <a:latin typeface="Consola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400800" y="2505456"/>
            <a:ext cx="20574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6400800" y="250545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0897B"/>
                </a:solidFill>
              </a:rPr>
              <a:t>✦  High-freq stabilization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6172200" y="2834640"/>
            <a:ext cx="2514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/>
          <p:nvPr/>
        </p:nvSpPr>
        <p:spPr>
          <a:xfrm>
            <a:off x="6245352" y="2834640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7A84"/>
                </a:solidFill>
              </a:rPr>
              <a:t>Primary role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7406640" y="28346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3540"/>
                </a:solidFill>
              </a:rPr>
              <a:t>EKF Motion Prior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6172200" y="3218688"/>
            <a:ext cx="2514600" cy="329184"/>
          </a:xfrm>
          <a:prstGeom prst="rect">
            <a:avLst/>
          </a:prstGeom>
          <a:solidFill>
            <a:srgbClr val="F0F4F5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6245352" y="3218688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7A84"/>
                </a:solidFill>
              </a:rPr>
              <a:t>Key strength</a:t>
            </a:r>
            <a:endParaRPr lang="en-US" sz="900"/>
          </a:p>
        </p:txBody>
      </p:sp>
      <p:sp>
        <p:nvSpPr>
          <p:cNvPr id="52" name="Text 50"/>
          <p:cNvSpPr/>
          <p:nvPr/>
        </p:nvSpPr>
        <p:spPr>
          <a:xfrm>
            <a:off x="7406640" y="321868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3540"/>
                </a:solidFill>
              </a:rPr>
              <a:t>Short-term stability</a:t>
            </a:r>
            <a:endParaRPr lang="en-US" sz="900"/>
          </a:p>
        </p:txBody>
      </p:sp>
      <p:sp>
        <p:nvSpPr>
          <p:cNvPr id="53" name="Shape 51"/>
          <p:cNvSpPr/>
          <p:nvPr/>
        </p:nvSpPr>
        <p:spPr>
          <a:xfrm>
            <a:off x="6172200" y="3602736"/>
            <a:ext cx="2514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/>
          <p:nvPr/>
        </p:nvSpPr>
        <p:spPr>
          <a:xfrm>
            <a:off x="6245352" y="3602736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7A84"/>
                </a:solidFill>
              </a:rPr>
              <a:t>Output</a:t>
            </a:r>
            <a:endParaRPr lang="en-US" sz="900"/>
          </a:p>
        </p:txBody>
      </p:sp>
      <p:sp>
        <p:nvSpPr>
          <p:cNvPr id="55" name="Text 53"/>
          <p:cNvSpPr/>
          <p:nvPr/>
        </p:nvSpPr>
        <p:spPr>
          <a:xfrm>
            <a:off x="7406640" y="36027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3540"/>
                </a:solidFill>
              </a:rPr>
              <a:t>/odometry/filtered</a:t>
            </a:r>
            <a:endParaRPr lang="en-US" sz="900"/>
          </a:p>
        </p:txBody>
      </p:sp>
      <p:sp>
        <p:nvSpPr>
          <p:cNvPr id="56" name="Text 54"/>
          <p:cNvSpPr/>
          <p:nvPr/>
        </p:nvSpPr>
        <p:spPr>
          <a:xfrm>
            <a:off x="6172200" y="4005072"/>
            <a:ext cx="2514600" cy="8046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5A7A84"/>
                </a:solidFill>
              </a:rPr>
              <a:t>Fused via Extended Kalman Filter to produce a smoothed motion prior, reducing drift during rotational maneuvers.</a:t>
            </a:r>
            <a:endParaRPr lang="en-US" sz="950"/>
          </a:p>
        </p:txBody>
      </p:sp>
      <p:sp>
        <p:nvSpPr>
          <p:cNvPr id="57" name="Shape 55"/>
          <p:cNvSpPr/>
          <p:nvPr/>
        </p:nvSpPr>
        <p:spPr>
          <a:xfrm>
            <a:off x="320040" y="4773168"/>
            <a:ext cx="8503920" cy="201168"/>
          </a:xfrm>
          <a:prstGeom prst="rect">
            <a:avLst/>
          </a:prstGeom>
          <a:solidFill>
            <a:srgbClr val="D8EDF2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8" name="Text 56"/>
          <p:cNvSpPr/>
          <p:nvPr/>
        </p:nvSpPr>
        <p:spPr>
          <a:xfrm>
            <a:off x="320040" y="477316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B6070"/>
                </a:solidFill>
              </a:rPr>
              <a:t>IMU + Wheel Odometry  →  EKF (robot_localisation)  →  /odometry/filtered  →  RTAB-Map motion prior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METHODOLOGY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540"/>
                </a:solidFill>
                <a:latin typeface="Calibri"/>
                <a:ea typeface="Calibri"/>
                <a:cs typeface="Calibri"/>
              </a:rPr>
              <a:t>RTAB-Map Localization Framework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19456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75189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6070"/>
                </a:solidFill>
              </a:rPr>
              <a:t>Why RTAB-Map?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365760" y="2017846"/>
            <a:ext cx="406908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sz="1100">
                <a:solidFill>
                  <a:srgbClr val="1E3540"/>
                </a:solidFill>
              </a:rPr>
              <a:t>Natively supports heterogeneous sensor fusion combining LiDAR and RGB-D within a single unified graph-SLAM framework. Chosen for its ability to evaluate the multi-modal fusion goal of this project.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4754880" y="1298448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754880" y="13716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897B"/>
                </a:solidFill>
              </a:rPr>
              <a:t>Dual-Path Data Flow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4983480" y="1847088"/>
            <a:ext cx="3566160" cy="329184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4983480" y="18470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EEF2F3"/>
                </a:solidFill>
              </a:rPr>
              <a:t>VISUAL PATH  (RGB-D Camera)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5120640" y="22311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3540"/>
                </a:solidFill>
              </a:rPr>
              <a:t>→  Extract visual features (edges, textures)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5120640" y="25054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3540"/>
                </a:solidFill>
              </a:rPr>
              <a:t>→  Frame-to-frame pose estimation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5120640" y="27797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3540"/>
                </a:solidFill>
              </a:rPr>
              <a:t>→  Dense local map representation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4983480" y="3127248"/>
            <a:ext cx="3566160" cy="0"/>
          </a:xfrm>
          <a:prstGeom prst="line">
            <a:avLst/>
          </a:prstGeom>
          <a:noFill/>
          <a:ln w="12700">
            <a:solidFill>
              <a:srgbClr val="C4D4D8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4983480" y="3218688"/>
            <a:ext cx="3566160" cy="32918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4983480" y="32186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EEF2F3"/>
                </a:solidFill>
              </a:rPr>
              <a:t>GEOMETRIC PATH  (2D LiDAR)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5120640" y="36027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3540"/>
                </a:solidFill>
              </a:rPr>
              <a:t>→  ICP scan matching for global consistency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5120640" y="38770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3540"/>
                </a:solidFill>
              </a:rPr>
              <a:t>→  Loop closure detection &amp; triggers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5120640" y="41513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3540"/>
                </a:solidFill>
              </a:rPr>
              <a:t>→  Pose graph update on revisit</a:t>
            </a:r>
            <a:endParaRPr lang="en-US" sz="1000"/>
          </a:p>
        </p:txBody>
      </p:sp>
      <p:sp>
        <p:nvSpPr>
          <p:cNvPr id="38" name="Shape 36"/>
          <p:cNvSpPr/>
          <p:nvPr/>
        </p:nvSpPr>
        <p:spPr>
          <a:xfrm>
            <a:off x="4754880" y="4553712"/>
            <a:ext cx="4023360" cy="256032"/>
          </a:xfrm>
          <a:prstGeom prst="rect">
            <a:avLst/>
          </a:prstGeom>
          <a:solidFill>
            <a:srgbClr val="D8EDF2"/>
          </a:solidFill>
          <a:ln w="12700">
            <a:solidFill>
              <a:srgbClr val="0B60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4754880" y="45537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0B6070"/>
                </a:solidFill>
              </a:rPr>
              <a:t>Both paths converge in Graph-SLAM optimization</a:t>
            </a:r>
            <a:endParaRPr lang="en-US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IMPLEMENTATION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19456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16679" y="1376171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6070"/>
                </a:solidFill>
              </a:rPr>
              <a:t>A  Simulation Setup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361582" y="1786911"/>
            <a:ext cx="4114800" cy="117957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66155" y="1786911"/>
            <a:ext cx="64008" cy="1179576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89599" y="19972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7285"/>
                </a:solidFill>
              </a:rPr>
              <a:t>·  </a:t>
            </a:r>
            <a:r>
              <a:rPr lang="en-US" sz="1050">
                <a:solidFill>
                  <a:srgbClr val="1E3540"/>
                </a:solidFill>
              </a:rPr>
              <a:t>ROS 2 Humble + Gazebo simulation engine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489599" y="23081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7285"/>
                </a:solidFill>
              </a:rPr>
              <a:t>·  </a:t>
            </a:r>
            <a:r>
              <a:rPr lang="en-US" sz="1050">
                <a:solidFill>
                  <a:srgbClr val="1E3540"/>
                </a:solidFill>
              </a:rPr>
              <a:t>Warehouse world loaded via URDF robot descriptions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494205" y="2673879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7285"/>
                </a:solidFill>
              </a:rPr>
              <a:t>·  </a:t>
            </a:r>
            <a:r>
              <a:rPr lang="en-US" sz="1050">
                <a:solidFill>
                  <a:srgbClr val="1E3540"/>
                </a:solidFill>
              </a:rPr>
              <a:t>Gaussian noise injected into all simulated sensors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316679" y="316234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0B6070"/>
                </a:solidFill>
              </a:rPr>
              <a:t>B Nav2 Stack Integration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4761178" y="1975193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6070"/>
                </a:solidFill>
              </a:rPr>
              <a:t>C  Transform Tree  (TF2)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4807504" y="2348582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4813196" y="2340953"/>
            <a:ext cx="64008" cy="1600200"/>
          </a:xfrm>
          <a:prstGeom prst="rect">
            <a:avLst/>
          </a:prstGeom>
          <a:solidFill>
            <a:srgbClr val="0B6070"/>
          </a:solidFill>
          <a:ln w="12700">
            <a:solidFill>
              <a:srgbClr val="0B60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5017210" y="2434423"/>
            <a:ext cx="3474720" cy="274320"/>
          </a:xfrm>
          <a:prstGeom prst="rect">
            <a:avLst/>
          </a:prstGeom>
          <a:solidFill>
            <a:srgbClr val="D8EDF2"/>
          </a:solidFill>
          <a:ln w="1270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090362" y="2434423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5209234" y="2708743"/>
            <a:ext cx="0" cy="73152"/>
          </a:xfrm>
          <a:prstGeom prst="line">
            <a:avLst/>
          </a:prstGeom>
          <a:noFill/>
          <a:ln w="1270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5145226" y="2781895"/>
            <a:ext cx="3346704" cy="274320"/>
          </a:xfrm>
          <a:prstGeom prst="rect">
            <a:avLst/>
          </a:prstGeom>
          <a:solidFill>
            <a:srgbClr val="D8EDF2"/>
          </a:solidFill>
          <a:ln w="1270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5218378" y="2781895"/>
            <a:ext cx="3255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 odom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5337250" y="3056215"/>
            <a:ext cx="0" cy="73152"/>
          </a:xfrm>
          <a:prstGeom prst="line">
            <a:avLst/>
          </a:prstGeom>
          <a:noFill/>
          <a:ln w="1270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5273242" y="3129367"/>
            <a:ext cx="3218688" cy="274320"/>
          </a:xfrm>
          <a:prstGeom prst="rect">
            <a:avLst/>
          </a:prstGeom>
          <a:solidFill>
            <a:srgbClr val="D8EDF2"/>
          </a:solidFill>
          <a:ln w="1270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5346394" y="3129367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 base_link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5465266" y="3403687"/>
            <a:ext cx="0" cy="73152"/>
          </a:xfrm>
          <a:prstGeom prst="line">
            <a:avLst/>
          </a:prstGeom>
          <a:noFill/>
          <a:ln w="1270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5401258" y="3476839"/>
            <a:ext cx="3090672" cy="2743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60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5474410" y="3476839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 laser_frame  /  camera_link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420623" y="3621024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7" name="Shape 35"/>
          <p:cNvSpPr/>
          <p:nvPr/>
        </p:nvSpPr>
        <p:spPr>
          <a:xfrm>
            <a:off x="379476" y="3621024"/>
            <a:ext cx="64008" cy="1207008"/>
          </a:xfrm>
          <a:prstGeom prst="rect">
            <a:avLst/>
          </a:prstGeom>
          <a:solidFill>
            <a:srgbClr val="C25E00"/>
          </a:solidFill>
          <a:ln w="12700">
            <a:solidFill>
              <a:srgbClr val="C25E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649223" y="368624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25E00"/>
                </a:solidFill>
              </a:rPr>
              <a:t>·  </a:t>
            </a:r>
            <a:r>
              <a:rPr lang="en-US" sz="1000">
                <a:solidFill>
                  <a:srgbClr val="1E3540"/>
                </a:solidFill>
              </a:rPr>
              <a:t>RTAB-Map projects dense 3D cloud to 2D /map occupancy grid</a:t>
            </a:r>
            <a:endParaRPr lang="en-US" sz="1000"/>
          </a:p>
        </p:txBody>
      </p:sp>
      <p:sp>
        <p:nvSpPr>
          <p:cNvPr id="39" name="Text 37"/>
          <p:cNvSpPr/>
          <p:nvPr/>
        </p:nvSpPr>
        <p:spPr>
          <a:xfrm>
            <a:off x="649223" y="3947661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25E00"/>
                </a:solidFill>
              </a:rPr>
              <a:t>·  </a:t>
            </a:r>
            <a:r>
              <a:rPr lang="en-US" sz="1000">
                <a:solidFill>
                  <a:srgbClr val="1E3540"/>
                </a:solidFill>
              </a:rPr>
              <a:t>Nav2 global + local cost maps consume the occupancy grid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635902" y="4201271"/>
            <a:ext cx="384048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25E00"/>
                </a:solidFill>
              </a:rPr>
              <a:t>·  </a:t>
            </a:r>
            <a:r>
              <a:rPr lang="en-US" sz="1000">
                <a:solidFill>
                  <a:srgbClr val="1E3540"/>
                </a:solidFill>
              </a:rPr>
              <a:t>Local map uses rolling window with synchronized sensor streams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655884" y="4457303"/>
            <a:ext cx="384048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25E00"/>
                </a:solidFill>
              </a:rPr>
              <a:t>·  </a:t>
            </a:r>
            <a:r>
              <a:rPr lang="en-US" sz="1000">
                <a:solidFill>
                  <a:srgbClr val="1E3540"/>
                </a:solidFill>
              </a:rPr>
              <a:t>MapsToPose action goals confirmed SLAM output usability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EXPERIMENTS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19456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97480" cy="5120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1100" b="1">
                <a:solidFill>
                  <a:srgbClr val="EEF2F3"/>
                </a:solidFill>
              </a:rPr>
              <a:t>Sensor Fusion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365760" y="16093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EEF2F3"/>
                </a:solidFill>
              </a:rPr>
              <a:t>LiDAR + RGB-D + IMU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3246120" y="1298448"/>
            <a:ext cx="2697480" cy="512064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246120" y="129844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1100" b="1">
                <a:solidFill>
                  <a:srgbClr val="EEF2F3"/>
                </a:solidFill>
              </a:rPr>
              <a:t>LiDAR Only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246120" y="16093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EEF2F3"/>
                </a:solidFill>
              </a:rPr>
              <a:t>2D LiDAR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6126480" y="1298448"/>
            <a:ext cx="2697480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126480" y="129844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1100" b="1">
                <a:solidFill>
                  <a:srgbClr val="EEF2F3"/>
                </a:solidFill>
              </a:rPr>
              <a:t>Camera Only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126480" y="16093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EEF2F3"/>
                </a:solidFill>
              </a:rPr>
              <a:t>RGB-D Camera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365760" y="1956816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365760" y="1956816"/>
            <a:ext cx="73152" cy="12070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66928" y="20482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6070"/>
                </a:solidFill>
              </a:rPr>
              <a:t>Simulation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66928" y="237744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3540"/>
                </a:solidFill>
              </a:rPr>
              <a:t>ROS 2 Humble + Gazebo small warehouse world. Repeatable controlled runs without physical hardware constraints.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4754880" y="1956816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754880" y="1956816"/>
            <a:ext cx="73152" cy="12070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956048" y="2048256"/>
            <a:ext cx="384048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6070"/>
                </a:solidFill>
              </a:rPr>
              <a:t>Bot Sensors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4956048" y="2377440"/>
            <a:ext cx="3840480" cy="713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3540"/>
                </a:solidFill>
              </a:rPr>
              <a:t>2D LiDAR (σ = 0.01 m Gaussian noise), RGB-D camera depth + color, and IMU at high frequency.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365760" y="3282696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365760" y="3282696"/>
            <a:ext cx="73152" cy="12070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66928" y="33741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6070"/>
                </a:solidFill>
              </a:rPr>
              <a:t>Physics Modelling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66928" y="370332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3540"/>
                </a:solidFill>
              </a:rPr>
              <a:t>Wheel friction (μ₁, μ₂), inertia tensors, and URDF-defined constraints to closely mimic real-world slippage.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4754880" y="3282696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4754880" y="3282696"/>
            <a:ext cx="73152" cy="12070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956048" y="33741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6070"/>
                </a:solidFill>
              </a:rPr>
              <a:t>Blackout Simulation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4956048" y="3703320"/>
            <a:ext cx="3840480" cy="713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>
                <a:solidFill>
                  <a:srgbClr val="1E3540"/>
                </a:solidFill>
              </a:rPr>
              <a:t>Gazebo directional sun model disabled mid-run. reduces RGB-D feature extraction to zero organically without killing the ROS node.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5A7A84"/>
                </a:solidFill>
              </a:rPr>
              <a:t>All sensors use Gaussian noise models to prevent over-fitting to perfect simulation data.</a:t>
            </a:r>
            <a:endParaRPr lang="en-US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RESULTS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Configuration Comparison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19456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97480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Camera Only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0392B"/>
                </a:solidFill>
              </a:rPr>
              <a:t>▸  </a:t>
            </a:r>
            <a:r>
              <a:rPr lang="en-US" sz="1100">
                <a:solidFill>
                  <a:srgbClr val="1E3540"/>
                </a:solidFill>
              </a:rPr>
              <a:t>Near-total mapping failure in darkness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0392B"/>
                </a:solidFill>
              </a:rPr>
              <a:t>▸  </a:t>
            </a:r>
            <a:r>
              <a:rPr lang="en-US" sz="1100">
                <a:solidFill>
                  <a:srgbClr val="1E3540"/>
                </a:solidFill>
              </a:rPr>
              <a:t>Visual odometry lost without light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502920" y="318211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0392B"/>
                </a:solidFill>
              </a:rPr>
              <a:t>▸  </a:t>
            </a:r>
            <a:r>
              <a:rPr lang="en-US" sz="1100">
                <a:solidFill>
                  <a:srgbClr val="1E3540"/>
                </a:solidFill>
              </a:rPr>
              <a:t>No loop closure without features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502920" y="38039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0392B"/>
                </a:solidFill>
              </a:rPr>
              <a:t>▸  </a:t>
            </a:r>
            <a:r>
              <a:rPr lang="en-US" sz="1100">
                <a:solidFill>
                  <a:srgbClr val="1E3540"/>
                </a:solidFill>
              </a:rPr>
              <a:t>High CPU efficiency but unusable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3246120" y="1298448"/>
            <a:ext cx="2697480" cy="530352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246120" y="129844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LiDAR Only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3246120" y="182880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383280" y="19385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7285"/>
                </a:solidFill>
              </a:rPr>
              <a:t>▸  </a:t>
            </a:r>
            <a:r>
              <a:rPr lang="en-US" sz="1100">
                <a:solidFill>
                  <a:srgbClr val="1E3540"/>
                </a:solidFill>
              </a:rPr>
              <a:t>Full boundary traced; no tracking loss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3383280" y="2560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7285"/>
                </a:solidFill>
              </a:rPr>
              <a:t>▸  </a:t>
            </a:r>
            <a:r>
              <a:rPr lang="en-US" sz="1100">
                <a:solidFill>
                  <a:srgbClr val="1E3540"/>
                </a:solidFill>
              </a:rPr>
              <a:t>Loop closure achieved repeatedly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3383280" y="318211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7285"/>
                </a:solidFill>
              </a:rPr>
              <a:t>▸  </a:t>
            </a:r>
            <a:r>
              <a:rPr lang="en-US" sz="1100">
                <a:solidFill>
                  <a:srgbClr val="1E3540"/>
                </a:solidFill>
              </a:rPr>
              <a:t>Dense false-positive closure mesh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3383280" y="38039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7285"/>
                </a:solidFill>
              </a:rPr>
              <a:t>▸  </a:t>
            </a:r>
            <a:r>
              <a:rPr lang="en-US" sz="1100">
                <a:solidFill>
                  <a:srgbClr val="1E3540"/>
                </a:solidFill>
              </a:rPr>
              <a:t>ICP graph saturation → unstable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6126480" y="1298448"/>
            <a:ext cx="2697480" cy="5303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6126480" y="129844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Multi-Modal Sensor Fusion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6126480" y="182880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6263640" y="19385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897B"/>
                </a:solidFill>
              </a:rPr>
              <a:t>▸  </a:t>
            </a:r>
            <a:r>
              <a:rPr lang="en-US" sz="1100">
                <a:solidFill>
                  <a:srgbClr val="1E3540"/>
                </a:solidFill>
              </a:rPr>
              <a:t>Clean occupancy map + stable path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6263640" y="2560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897B"/>
                </a:solidFill>
              </a:rPr>
              <a:t>▸  </a:t>
            </a:r>
            <a:r>
              <a:rPr lang="en-US" sz="1100">
                <a:solidFill>
                  <a:srgbClr val="1E3540"/>
                </a:solidFill>
              </a:rPr>
              <a:t>Visual + geometric complementarity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6263640" y="318211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897B"/>
                </a:solidFill>
              </a:rPr>
              <a:t>▸  </a:t>
            </a:r>
            <a:r>
              <a:rPr lang="en-US" sz="1100">
                <a:solidFill>
                  <a:srgbClr val="1E3540"/>
                </a:solidFill>
              </a:rPr>
              <a:t>Survived sensor blackout seamlessly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6263640" y="38039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897B"/>
                </a:solidFill>
              </a:rPr>
              <a:t>▸  </a:t>
            </a:r>
            <a:r>
              <a:rPr lang="en-US" sz="1100">
                <a:solidFill>
                  <a:srgbClr val="1E3540"/>
                </a:solidFill>
              </a:rPr>
              <a:t>ICP switched in when RGB-D failed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KEY FINDING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Sensor Blackout Test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19456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4160520" cy="246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sz="1150">
                <a:solidFill>
                  <a:srgbClr val="1E3540"/>
                </a:solidFill>
              </a:rPr>
              <a:t>Midway through navigation, the Gazebo environment lighting was completely disabled sinking the warehouse into darkness and reducing RGB-D visual feature extraction to zero.</a:t>
            </a:r>
            <a:endParaRPr lang="en-US" sz="1150"/>
          </a:p>
          <a:p>
            <a:pPr marL="0" indent="0">
              <a:lnSpc>
                <a:spcPct val="130000"/>
              </a:lnSpc>
              <a:buNone/>
            </a:pPr>
            <a:endParaRPr lang="en-US" sz="1150"/>
          </a:p>
          <a:p>
            <a:pPr marL="0" indent="0">
              <a:lnSpc>
                <a:spcPct val="130000"/>
              </a:lnSpc>
              <a:buNone/>
            </a:pPr>
            <a:r>
              <a:rPr lang="en-US" sz="1150">
                <a:solidFill>
                  <a:srgbClr val="1E3540"/>
                </a:solidFill>
              </a:rPr>
              <a:t>The RTAB-Map hybrid strategy seamlessly shifted localization weight to ICP scan-matching from the active 2D LiDAR.</a:t>
            </a:r>
            <a:endParaRPr lang="en-US" sz="1150"/>
          </a:p>
          <a:p>
            <a:pPr marL="0" indent="0">
              <a:lnSpc>
                <a:spcPct val="130000"/>
              </a:lnSpc>
              <a:buNone/>
            </a:pPr>
            <a:endParaRPr lang="en-US" sz="1150"/>
          </a:p>
          <a:p>
            <a:pPr marL="0" indent="0">
              <a:lnSpc>
                <a:spcPct val="130000"/>
              </a:lnSpc>
              <a:buNone/>
            </a:pPr>
            <a:r>
              <a:rPr lang="en-US" sz="1150">
                <a:solidFill>
                  <a:srgbClr val="1E3540"/>
                </a:solidFill>
              </a:rPr>
              <a:t>The system supported spatial localization without any coordinate jumps, odometry drift, or map fragmentation.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4846320" y="1073875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029200" y="1283723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897B"/>
                </a:solidFill>
              </a:rPr>
              <a:t>Blackout Timeline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5074920" y="1947672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5248656" y="2295144"/>
            <a:ext cx="0" cy="612648"/>
          </a:xfrm>
          <a:prstGeom prst="line">
            <a:avLst/>
          </a:prstGeom>
          <a:noFill/>
          <a:ln w="19050">
            <a:solidFill>
              <a:srgbClr val="C4D4D8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532120" y="19293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897B"/>
                </a:solidFill>
              </a:rPr>
              <a:t>t = 0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5532120" y="21305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540"/>
                </a:solidFill>
              </a:rPr>
              <a:t>Navigation Start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5532120" y="23774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A7A84"/>
                </a:solidFill>
              </a:rPr>
              <a:t>Full multi-modal fusion active — LiDAR + RGB-D + IMU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5074920" y="2907792"/>
            <a:ext cx="347472" cy="347472"/>
          </a:xfrm>
          <a:prstGeom prst="ellipse">
            <a:avLst/>
          </a:prstGeom>
          <a:solidFill>
            <a:srgbClr val="C25E00"/>
          </a:solidFill>
          <a:ln w="12700">
            <a:solidFill>
              <a:srgbClr val="C25E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5248656" y="3255264"/>
            <a:ext cx="0" cy="612648"/>
          </a:xfrm>
          <a:prstGeom prst="line">
            <a:avLst/>
          </a:prstGeom>
          <a:noFill/>
          <a:ln w="19050">
            <a:solidFill>
              <a:srgbClr val="C4D4D8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532120" y="30906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540"/>
                </a:solidFill>
              </a:rPr>
              <a:t>Lights Out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5532120" y="33375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A7A84"/>
                </a:solidFill>
              </a:rPr>
              <a:t>Gazebo lighting disabled. RGB-D feature extraction drops to zero.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5074920" y="3867912"/>
            <a:ext cx="347472" cy="347472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532120" y="384962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B7285"/>
                </a:solidFill>
              </a:rPr>
              <a:t>t = end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5532120" y="40507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540"/>
                </a:solidFill>
              </a:rPr>
              <a:t>Stable Finish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5532120" y="4164083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A7A84"/>
                </a:solidFill>
              </a:rPr>
              <a:t>ICP takes over seamlessly. Map integrity preserved.</a:t>
            </a:r>
            <a:endParaRPr lang="en-US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9436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pic>
        <p:nvPicPr>
          <p:cNvPr id="7" name="Bild 1">
            <a:extLst>
              <a:ext uri="{FF2B5EF4-FFF2-40B4-BE49-F238E27FC236}">
                <a16:creationId xmlns:a16="http://schemas.microsoft.com/office/drawing/2014/main" id="{566148ED-C9FE-1697-0A99-2387596A96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871" b="1667"/>
          <a:stretch>
            <a:fillRect/>
          </a:stretch>
        </p:blipFill>
        <p:spPr bwMode="auto">
          <a:xfrm>
            <a:off x="212250" y="1931580"/>
            <a:ext cx="2758135" cy="2041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11">
            <a:extLst>
              <a:ext uri="{FF2B5EF4-FFF2-40B4-BE49-F238E27FC236}">
                <a16:creationId xmlns:a16="http://schemas.microsoft.com/office/drawing/2014/main" id="{288F10EA-A970-6B6B-722B-47ED9BE00F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032" y="1958057"/>
            <a:ext cx="2792415" cy="2032291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A8217A0-2E76-0022-F25F-E1D898B104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2"/>
          <a:stretch>
            <a:fillRect/>
          </a:stretch>
        </p:blipFill>
        <p:spPr bwMode="auto">
          <a:xfrm>
            <a:off x="5863202" y="1955648"/>
            <a:ext cx="2975443" cy="205365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CFAAA38A-299F-7300-42AB-0EB6ABA7F51E}"/>
              </a:ext>
            </a:extLst>
          </p:cNvPr>
          <p:cNvSpPr txBox="1"/>
          <p:nvPr/>
        </p:nvSpPr>
        <p:spPr>
          <a:xfrm>
            <a:off x="213442" y="3944932"/>
            <a:ext cx="164713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effectLst>
                  <a:outerShdw sx="0" sy="0">
                    <a:srgbClr val="000000"/>
                  </a:outerShdw>
                </a:effectLst>
              </a:rPr>
              <a:t> Camera-Only Performance</a:t>
            </a:r>
            <a:endParaRPr lang="de-DE" sz="900" b="1">
              <a:effectLst>
                <a:outerShdw sx="0" sy="0">
                  <a:srgbClr val="000000"/>
                </a:outerShdw>
              </a:effectLst>
            </a:endParaRPr>
          </a:p>
          <a:p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5E928EF-BF70-0996-C876-54190C9533A1}"/>
              </a:ext>
            </a:extLst>
          </p:cNvPr>
          <p:cNvSpPr txBox="1"/>
          <p:nvPr/>
        </p:nvSpPr>
        <p:spPr>
          <a:xfrm>
            <a:off x="3433285" y="3990349"/>
            <a:ext cx="1886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effectLst>
                  <a:outerShdw sx="0" sy="0">
                    <a:srgbClr val="000000"/>
                  </a:outerShdw>
                </a:effectLst>
              </a:rPr>
              <a:t>Lidar-Only Performance</a:t>
            </a:r>
            <a:endParaRPr lang="de-DE" sz="1000" b="1">
              <a:effectLst>
                <a:outerShdw sx="0" sy="0">
                  <a:srgbClr val="000000"/>
                </a:outerShdw>
              </a:effectLst>
            </a:endParaRPr>
          </a:p>
          <a:p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7DD63C2-5205-DB87-CD13-2BE2DB971BA0}"/>
              </a:ext>
            </a:extLst>
          </p:cNvPr>
          <p:cNvSpPr txBox="1"/>
          <p:nvPr/>
        </p:nvSpPr>
        <p:spPr>
          <a:xfrm>
            <a:off x="6454690" y="3998044"/>
            <a:ext cx="179246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effectLst>
                  <a:outerShdw sx="0" sy="0">
                    <a:srgbClr val="000000"/>
                  </a:outerShdw>
                </a:effectLst>
              </a:rPr>
              <a:t>Sensor- Fusion Performance</a:t>
            </a:r>
            <a:endParaRPr lang="de-DE" sz="900" b="1">
              <a:effectLst>
                <a:outerShdw sx="0" sy="0">
                  <a:srgbClr val="000000"/>
                </a:outerShdw>
              </a:effectLst>
            </a:endParaRPr>
          </a:p>
          <a:p>
            <a:endParaRPr lang="de-DE"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67AA2330-30D0-5C59-FCCF-728B1AD882F8}"/>
              </a:ext>
            </a:extLst>
          </p:cNvPr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BC7BC525-8E5E-06DF-41AB-333CA7F249DF}"/>
              </a:ext>
            </a:extLst>
          </p:cNvPr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RESULTS</a:t>
            </a:r>
            <a:endParaRPr lang="en-US" sz="90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086A99A7-0185-7CDE-7B1C-D0916734DDC9}"/>
              </a:ext>
            </a:extLst>
          </p:cNvPr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Graph Comparison</a:t>
            </a:r>
            <a:endParaRPr lang="en-US" sz="280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79538A1D-00F0-3227-2B09-A9AF6C511E96}"/>
              </a:ext>
            </a:extLst>
          </p:cNvPr>
          <p:cNvSpPr/>
          <p:nvPr/>
        </p:nvSpPr>
        <p:spPr>
          <a:xfrm>
            <a:off x="365760" y="1115568"/>
            <a:ext cx="219456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RESULTS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Metric Results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19456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6070"/>
                </a:solidFill>
              </a:rPr>
              <a:t>TABLE I  —  Absolute Trajectory Error (ATE)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365760" y="1609344"/>
            <a:ext cx="256032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65760" y="16093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Sensor Configuration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2926080" y="1609344"/>
            <a:ext cx="146304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926080" y="16093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Mean ATE (m)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389120" y="1609344"/>
            <a:ext cx="146304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389120" y="16093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RMSE ATE (m)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5852160" y="1609344"/>
            <a:ext cx="146304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852160" y="16093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Max ATE (m)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7315200" y="1609344"/>
            <a:ext cx="128016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315200" y="16093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Std Dev (m)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365760" y="1901952"/>
            <a:ext cx="2560320" cy="292608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38912" y="1901952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3540"/>
                </a:solidFill>
              </a:rPr>
              <a:t>Multi-Modal Fusion (LiDAR + RGB-D + IMU)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2926080" y="1901952"/>
            <a:ext cx="1463040" cy="292608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2926080" y="1901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6B3A"/>
                </a:solidFill>
              </a:rPr>
              <a:t>0.031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389120" y="1901952"/>
            <a:ext cx="1463040" cy="292608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389120" y="1901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6B3A"/>
                </a:solidFill>
              </a:rPr>
              <a:t>0.034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5852160" y="1901952"/>
            <a:ext cx="1463040" cy="292608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852160" y="1901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6B3A"/>
                </a:solidFill>
              </a:rPr>
              <a:t>0.082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7315200" y="1901952"/>
            <a:ext cx="1280160" cy="292608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7315200" y="19019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6B3A"/>
                </a:solidFill>
              </a:rPr>
              <a:t>0.012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365760" y="2194560"/>
            <a:ext cx="2560320" cy="292608"/>
          </a:xfrm>
          <a:prstGeom prst="rect">
            <a:avLst/>
          </a:prstGeom>
          <a:solidFill>
            <a:srgbClr val="FFF8E1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438912" y="2194560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3540"/>
                </a:solidFill>
              </a:rPr>
              <a:t>LiDAR-Only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2926080" y="2194560"/>
            <a:ext cx="1463040" cy="292608"/>
          </a:xfrm>
          <a:prstGeom prst="rect">
            <a:avLst/>
          </a:prstGeom>
          <a:solidFill>
            <a:srgbClr val="FFF8E1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2926080" y="2194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7B5800"/>
                </a:solidFill>
              </a:rPr>
              <a:t>0.097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4389120" y="2194560"/>
            <a:ext cx="1463040" cy="292608"/>
          </a:xfrm>
          <a:prstGeom prst="rect">
            <a:avLst/>
          </a:prstGeom>
          <a:solidFill>
            <a:srgbClr val="FFF8E1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4389120" y="2194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7B5800"/>
                </a:solidFill>
              </a:rPr>
              <a:t>0.103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5852160" y="2194560"/>
            <a:ext cx="1463040" cy="292608"/>
          </a:xfrm>
          <a:prstGeom prst="rect">
            <a:avLst/>
          </a:prstGeom>
          <a:solidFill>
            <a:srgbClr val="FFF8E1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5852160" y="2194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7B5800"/>
                </a:solidFill>
              </a:rPr>
              <a:t>0.251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7315200" y="2194560"/>
            <a:ext cx="1280160" cy="292608"/>
          </a:xfrm>
          <a:prstGeom prst="rect">
            <a:avLst/>
          </a:prstGeom>
          <a:solidFill>
            <a:srgbClr val="FFF8E1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7315200" y="2194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7B5800"/>
                </a:solidFill>
              </a:rPr>
              <a:t>0.031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365760" y="2487168"/>
            <a:ext cx="2560320" cy="292608"/>
          </a:xfrm>
          <a:prstGeom prst="rect">
            <a:avLst/>
          </a:prstGeom>
          <a:solidFill>
            <a:srgbClr val="FDECEA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438912" y="2487168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3540"/>
                </a:solidFill>
              </a:rPr>
              <a:t>Camera-Only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2926080" y="2487168"/>
            <a:ext cx="1463040" cy="292608"/>
          </a:xfrm>
          <a:prstGeom prst="rect">
            <a:avLst/>
          </a:prstGeom>
          <a:solidFill>
            <a:srgbClr val="FDECEA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2926080" y="2487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0392B"/>
                </a:solidFill>
              </a:rPr>
              <a:t>0.289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4389120" y="2487168"/>
            <a:ext cx="1463040" cy="292608"/>
          </a:xfrm>
          <a:prstGeom prst="rect">
            <a:avLst/>
          </a:prstGeom>
          <a:solidFill>
            <a:srgbClr val="FDECEA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4389120" y="2487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0392B"/>
                </a:solidFill>
              </a:rPr>
              <a:t>0.341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5852160" y="2487168"/>
            <a:ext cx="1463040" cy="292608"/>
          </a:xfrm>
          <a:prstGeom prst="rect">
            <a:avLst/>
          </a:prstGeom>
          <a:solidFill>
            <a:srgbClr val="FDECEA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5852160" y="2487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0392B"/>
                </a:solidFill>
              </a:rPr>
              <a:t>1.820</a:t>
            </a:r>
            <a:endParaRPr lang="en-US" sz="1000"/>
          </a:p>
        </p:txBody>
      </p:sp>
      <p:sp>
        <p:nvSpPr>
          <p:cNvPr id="45" name="Shape 43"/>
          <p:cNvSpPr/>
          <p:nvPr/>
        </p:nvSpPr>
        <p:spPr>
          <a:xfrm>
            <a:off x="7315200" y="2487168"/>
            <a:ext cx="1280160" cy="292608"/>
          </a:xfrm>
          <a:prstGeom prst="rect">
            <a:avLst/>
          </a:prstGeom>
          <a:solidFill>
            <a:srgbClr val="FDECEA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7315200" y="24871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0392B"/>
                </a:solidFill>
              </a:rPr>
              <a:t>0.178</a:t>
            </a:r>
            <a:endParaRPr lang="en-US" sz="1000"/>
          </a:p>
        </p:txBody>
      </p:sp>
      <p:sp>
        <p:nvSpPr>
          <p:cNvPr id="47" name="Text 45"/>
          <p:cNvSpPr/>
          <p:nvPr/>
        </p:nvSpPr>
        <p:spPr>
          <a:xfrm>
            <a:off x="438912" y="293522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6070"/>
                </a:solidFill>
              </a:rPr>
              <a:t>TABLE II  —  Relative Pose Error (RPE,  Δ = 1 s)</a:t>
            </a:r>
            <a:endParaRPr lang="en-US" sz="1100"/>
          </a:p>
        </p:txBody>
      </p:sp>
      <p:sp>
        <p:nvSpPr>
          <p:cNvPr id="48" name="Shape 46"/>
          <p:cNvSpPr/>
          <p:nvPr/>
        </p:nvSpPr>
        <p:spPr>
          <a:xfrm>
            <a:off x="365760" y="3218688"/>
            <a:ext cx="256032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365760" y="3218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Sensor Configuration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2926080" y="3218688"/>
            <a:ext cx="146304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2926080" y="32186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Mean RPE (m/s)</a:t>
            </a:r>
            <a:endParaRPr lang="en-US" sz="950"/>
          </a:p>
        </p:txBody>
      </p:sp>
      <p:sp>
        <p:nvSpPr>
          <p:cNvPr id="52" name="Shape 50"/>
          <p:cNvSpPr/>
          <p:nvPr/>
        </p:nvSpPr>
        <p:spPr>
          <a:xfrm>
            <a:off x="4389120" y="3218688"/>
            <a:ext cx="146304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51"/>
          <p:cNvSpPr/>
          <p:nvPr/>
        </p:nvSpPr>
        <p:spPr>
          <a:xfrm>
            <a:off x="4389120" y="32186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RMSE RPE (m/s)</a:t>
            </a:r>
            <a:endParaRPr lang="en-US" sz="950"/>
          </a:p>
        </p:txBody>
      </p:sp>
      <p:sp>
        <p:nvSpPr>
          <p:cNvPr id="54" name="Shape 52"/>
          <p:cNvSpPr/>
          <p:nvPr/>
        </p:nvSpPr>
        <p:spPr>
          <a:xfrm>
            <a:off x="5852160" y="3218688"/>
            <a:ext cx="146304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53"/>
          <p:cNvSpPr/>
          <p:nvPr/>
        </p:nvSpPr>
        <p:spPr>
          <a:xfrm>
            <a:off x="5852160" y="32186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Max RPE (m/s)</a:t>
            </a:r>
            <a:endParaRPr lang="en-US" sz="950"/>
          </a:p>
        </p:txBody>
      </p:sp>
      <p:sp>
        <p:nvSpPr>
          <p:cNvPr id="56" name="Shape 54"/>
          <p:cNvSpPr/>
          <p:nvPr/>
        </p:nvSpPr>
        <p:spPr>
          <a:xfrm>
            <a:off x="7315200" y="3218688"/>
            <a:ext cx="128016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Text 55"/>
          <p:cNvSpPr/>
          <p:nvPr/>
        </p:nvSpPr>
        <p:spPr>
          <a:xfrm>
            <a:off x="7315200" y="32186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Std Dev (m/s)</a:t>
            </a:r>
            <a:endParaRPr lang="en-US" sz="950"/>
          </a:p>
        </p:txBody>
      </p:sp>
      <p:sp>
        <p:nvSpPr>
          <p:cNvPr id="58" name="Shape 56"/>
          <p:cNvSpPr/>
          <p:nvPr/>
        </p:nvSpPr>
        <p:spPr>
          <a:xfrm>
            <a:off x="365760" y="3511296"/>
            <a:ext cx="2560320" cy="292608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9" name="Text 57"/>
          <p:cNvSpPr/>
          <p:nvPr/>
        </p:nvSpPr>
        <p:spPr>
          <a:xfrm>
            <a:off x="438912" y="3511296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3540"/>
                </a:solidFill>
              </a:rPr>
              <a:t>Multi-Modal Fusion (LiDAR + RGB-D + IMU)</a:t>
            </a:r>
            <a:endParaRPr lang="en-US" sz="900"/>
          </a:p>
        </p:txBody>
      </p:sp>
      <p:sp>
        <p:nvSpPr>
          <p:cNvPr id="60" name="Shape 58"/>
          <p:cNvSpPr/>
          <p:nvPr/>
        </p:nvSpPr>
        <p:spPr>
          <a:xfrm>
            <a:off x="2926080" y="3511296"/>
            <a:ext cx="1463040" cy="292608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Text 59"/>
          <p:cNvSpPr/>
          <p:nvPr/>
        </p:nvSpPr>
        <p:spPr>
          <a:xfrm>
            <a:off x="2926080" y="3511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6B3A"/>
                </a:solidFill>
              </a:rPr>
              <a:t>0.018</a:t>
            </a:r>
            <a:endParaRPr lang="en-US" sz="1000"/>
          </a:p>
        </p:txBody>
      </p:sp>
      <p:sp>
        <p:nvSpPr>
          <p:cNvPr id="62" name="Shape 60"/>
          <p:cNvSpPr/>
          <p:nvPr/>
        </p:nvSpPr>
        <p:spPr>
          <a:xfrm>
            <a:off x="4389120" y="3511296"/>
            <a:ext cx="1463040" cy="292608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3" name="Text 61"/>
          <p:cNvSpPr/>
          <p:nvPr/>
        </p:nvSpPr>
        <p:spPr>
          <a:xfrm>
            <a:off x="4389120" y="3511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6B3A"/>
                </a:solidFill>
              </a:rPr>
              <a:t>0.027</a:t>
            </a:r>
            <a:endParaRPr lang="en-US" sz="1000"/>
          </a:p>
        </p:txBody>
      </p:sp>
      <p:sp>
        <p:nvSpPr>
          <p:cNvPr id="64" name="Shape 62"/>
          <p:cNvSpPr/>
          <p:nvPr/>
        </p:nvSpPr>
        <p:spPr>
          <a:xfrm>
            <a:off x="5852160" y="3511296"/>
            <a:ext cx="1463040" cy="292608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5" name="Text 63"/>
          <p:cNvSpPr/>
          <p:nvPr/>
        </p:nvSpPr>
        <p:spPr>
          <a:xfrm>
            <a:off x="5852160" y="3511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6B3A"/>
                </a:solidFill>
              </a:rPr>
              <a:t>0.041</a:t>
            </a:r>
            <a:endParaRPr lang="en-US" sz="1000"/>
          </a:p>
        </p:txBody>
      </p:sp>
      <p:sp>
        <p:nvSpPr>
          <p:cNvPr id="66" name="Shape 64"/>
          <p:cNvSpPr/>
          <p:nvPr/>
        </p:nvSpPr>
        <p:spPr>
          <a:xfrm>
            <a:off x="7315200" y="3511296"/>
            <a:ext cx="1280160" cy="292608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7" name="Text 65"/>
          <p:cNvSpPr/>
          <p:nvPr/>
        </p:nvSpPr>
        <p:spPr>
          <a:xfrm>
            <a:off x="7315200" y="35112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6B3A"/>
                </a:solidFill>
              </a:rPr>
              <a:t>0.009</a:t>
            </a:r>
            <a:endParaRPr lang="en-US" sz="1000"/>
          </a:p>
        </p:txBody>
      </p:sp>
      <p:sp>
        <p:nvSpPr>
          <p:cNvPr id="68" name="Shape 66"/>
          <p:cNvSpPr/>
          <p:nvPr/>
        </p:nvSpPr>
        <p:spPr>
          <a:xfrm>
            <a:off x="365760" y="3803904"/>
            <a:ext cx="2560320" cy="292608"/>
          </a:xfrm>
          <a:prstGeom prst="rect">
            <a:avLst/>
          </a:prstGeom>
          <a:solidFill>
            <a:srgbClr val="FFF8E1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9" name="Text 67"/>
          <p:cNvSpPr/>
          <p:nvPr/>
        </p:nvSpPr>
        <p:spPr>
          <a:xfrm>
            <a:off x="438912" y="3803904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3540"/>
                </a:solidFill>
              </a:rPr>
              <a:t>LiDAR-Only</a:t>
            </a:r>
            <a:endParaRPr lang="en-US" sz="900"/>
          </a:p>
        </p:txBody>
      </p:sp>
      <p:sp>
        <p:nvSpPr>
          <p:cNvPr id="70" name="Shape 68"/>
          <p:cNvSpPr/>
          <p:nvPr/>
        </p:nvSpPr>
        <p:spPr>
          <a:xfrm>
            <a:off x="2926080" y="3803904"/>
            <a:ext cx="1463040" cy="292608"/>
          </a:xfrm>
          <a:prstGeom prst="rect">
            <a:avLst/>
          </a:prstGeom>
          <a:solidFill>
            <a:srgbClr val="FFF8E1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1" name="Text 69"/>
          <p:cNvSpPr/>
          <p:nvPr/>
        </p:nvSpPr>
        <p:spPr>
          <a:xfrm>
            <a:off x="2926080" y="38039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7B5800"/>
                </a:solidFill>
              </a:rPr>
              <a:t>0.044</a:t>
            </a:r>
            <a:endParaRPr lang="en-US" sz="1000"/>
          </a:p>
        </p:txBody>
      </p:sp>
      <p:sp>
        <p:nvSpPr>
          <p:cNvPr id="72" name="Shape 70"/>
          <p:cNvSpPr/>
          <p:nvPr/>
        </p:nvSpPr>
        <p:spPr>
          <a:xfrm>
            <a:off x="4389120" y="3803904"/>
            <a:ext cx="1463040" cy="292608"/>
          </a:xfrm>
          <a:prstGeom prst="rect">
            <a:avLst/>
          </a:prstGeom>
          <a:solidFill>
            <a:srgbClr val="FFF8E1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3" name="Text 71"/>
          <p:cNvSpPr/>
          <p:nvPr/>
        </p:nvSpPr>
        <p:spPr>
          <a:xfrm>
            <a:off x="4389120" y="38039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7B5800"/>
                </a:solidFill>
              </a:rPr>
              <a:t>0.051</a:t>
            </a:r>
            <a:endParaRPr lang="en-US" sz="1000"/>
          </a:p>
        </p:txBody>
      </p:sp>
      <p:sp>
        <p:nvSpPr>
          <p:cNvPr id="74" name="Shape 72"/>
          <p:cNvSpPr/>
          <p:nvPr/>
        </p:nvSpPr>
        <p:spPr>
          <a:xfrm>
            <a:off x="5852160" y="3803904"/>
            <a:ext cx="1463040" cy="292608"/>
          </a:xfrm>
          <a:prstGeom prst="rect">
            <a:avLst/>
          </a:prstGeom>
          <a:solidFill>
            <a:srgbClr val="FFF8E1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5" name="Text 73"/>
          <p:cNvSpPr/>
          <p:nvPr/>
        </p:nvSpPr>
        <p:spPr>
          <a:xfrm>
            <a:off x="5852160" y="38039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7B5800"/>
                </a:solidFill>
              </a:rPr>
              <a:t>0.138</a:t>
            </a:r>
            <a:endParaRPr lang="en-US" sz="1000"/>
          </a:p>
        </p:txBody>
      </p:sp>
      <p:sp>
        <p:nvSpPr>
          <p:cNvPr id="76" name="Shape 74"/>
          <p:cNvSpPr/>
          <p:nvPr/>
        </p:nvSpPr>
        <p:spPr>
          <a:xfrm>
            <a:off x="7315200" y="3803904"/>
            <a:ext cx="1280160" cy="292608"/>
          </a:xfrm>
          <a:prstGeom prst="rect">
            <a:avLst/>
          </a:prstGeom>
          <a:solidFill>
            <a:srgbClr val="FFF8E1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7" name="Text 75"/>
          <p:cNvSpPr/>
          <p:nvPr/>
        </p:nvSpPr>
        <p:spPr>
          <a:xfrm>
            <a:off x="7315200" y="3803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7B5800"/>
                </a:solidFill>
              </a:rPr>
              <a:t>0.024</a:t>
            </a:r>
            <a:endParaRPr lang="en-US" sz="1000"/>
          </a:p>
        </p:txBody>
      </p:sp>
      <p:sp>
        <p:nvSpPr>
          <p:cNvPr id="78" name="Shape 76"/>
          <p:cNvSpPr/>
          <p:nvPr/>
        </p:nvSpPr>
        <p:spPr>
          <a:xfrm>
            <a:off x="365760" y="4096512"/>
            <a:ext cx="2560320" cy="292608"/>
          </a:xfrm>
          <a:prstGeom prst="rect">
            <a:avLst/>
          </a:prstGeom>
          <a:solidFill>
            <a:srgbClr val="FDECEA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9" name="Text 77"/>
          <p:cNvSpPr/>
          <p:nvPr/>
        </p:nvSpPr>
        <p:spPr>
          <a:xfrm>
            <a:off x="438912" y="4096512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3540"/>
                </a:solidFill>
              </a:rPr>
              <a:t>Camera-Only</a:t>
            </a:r>
            <a:endParaRPr lang="en-US" sz="900"/>
          </a:p>
        </p:txBody>
      </p:sp>
      <p:sp>
        <p:nvSpPr>
          <p:cNvPr id="80" name="Shape 78"/>
          <p:cNvSpPr/>
          <p:nvPr/>
        </p:nvSpPr>
        <p:spPr>
          <a:xfrm>
            <a:off x="2926080" y="4096512"/>
            <a:ext cx="1463040" cy="292608"/>
          </a:xfrm>
          <a:prstGeom prst="rect">
            <a:avLst/>
          </a:prstGeom>
          <a:solidFill>
            <a:srgbClr val="FDECEA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1" name="Text 79"/>
          <p:cNvSpPr/>
          <p:nvPr/>
        </p:nvSpPr>
        <p:spPr>
          <a:xfrm>
            <a:off x="2926080" y="4096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0392B"/>
                </a:solidFill>
              </a:rPr>
              <a:t>0.173</a:t>
            </a:r>
            <a:endParaRPr lang="en-US" sz="1000"/>
          </a:p>
        </p:txBody>
      </p:sp>
      <p:sp>
        <p:nvSpPr>
          <p:cNvPr id="82" name="Shape 80"/>
          <p:cNvSpPr/>
          <p:nvPr/>
        </p:nvSpPr>
        <p:spPr>
          <a:xfrm>
            <a:off x="4389120" y="4096512"/>
            <a:ext cx="1463040" cy="292608"/>
          </a:xfrm>
          <a:prstGeom prst="rect">
            <a:avLst/>
          </a:prstGeom>
          <a:solidFill>
            <a:srgbClr val="FDECEA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3" name="Text 81"/>
          <p:cNvSpPr/>
          <p:nvPr/>
        </p:nvSpPr>
        <p:spPr>
          <a:xfrm>
            <a:off x="4389120" y="4096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0392B"/>
                </a:solidFill>
              </a:rPr>
              <a:t>0.219</a:t>
            </a:r>
            <a:endParaRPr lang="en-US" sz="1000"/>
          </a:p>
        </p:txBody>
      </p:sp>
      <p:sp>
        <p:nvSpPr>
          <p:cNvPr id="84" name="Shape 82"/>
          <p:cNvSpPr/>
          <p:nvPr/>
        </p:nvSpPr>
        <p:spPr>
          <a:xfrm>
            <a:off x="5852160" y="4096512"/>
            <a:ext cx="1463040" cy="292608"/>
          </a:xfrm>
          <a:prstGeom prst="rect">
            <a:avLst/>
          </a:prstGeom>
          <a:solidFill>
            <a:srgbClr val="FDECEA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5" name="Text 83"/>
          <p:cNvSpPr/>
          <p:nvPr/>
        </p:nvSpPr>
        <p:spPr>
          <a:xfrm>
            <a:off x="5852160" y="4096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0392B"/>
                </a:solidFill>
              </a:rPr>
              <a:t>0.812</a:t>
            </a:r>
            <a:endParaRPr lang="en-US" sz="1000"/>
          </a:p>
        </p:txBody>
      </p:sp>
      <p:sp>
        <p:nvSpPr>
          <p:cNvPr id="86" name="Shape 84"/>
          <p:cNvSpPr/>
          <p:nvPr/>
        </p:nvSpPr>
        <p:spPr>
          <a:xfrm>
            <a:off x="7315200" y="4096512"/>
            <a:ext cx="1280160" cy="292608"/>
          </a:xfrm>
          <a:prstGeom prst="rect">
            <a:avLst/>
          </a:prstGeom>
          <a:solidFill>
            <a:srgbClr val="FDECEA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7" name="Text 85"/>
          <p:cNvSpPr/>
          <p:nvPr/>
        </p:nvSpPr>
        <p:spPr>
          <a:xfrm>
            <a:off x="7315200" y="4096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0392B"/>
                </a:solidFill>
              </a:rPr>
              <a:t>0.142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86"/>
          <p:cNvSpPr/>
          <p:nvPr/>
        </p:nvSpPr>
        <p:spPr>
          <a:xfrm>
            <a:off x="0" y="80794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6070"/>
                </a:solidFill>
              </a:rPr>
              <a:t>TABLE III  —  Time-Segmented Blackout Breakdown  (Multi-Modal Fusion)</a:t>
            </a:r>
            <a:endParaRPr lang="en-US" sz="1100"/>
          </a:p>
        </p:txBody>
      </p:sp>
      <p:sp>
        <p:nvSpPr>
          <p:cNvPr id="89" name="Shape 87"/>
          <p:cNvSpPr/>
          <p:nvPr/>
        </p:nvSpPr>
        <p:spPr>
          <a:xfrm>
            <a:off x="347472" y="1197562"/>
            <a:ext cx="2194560" cy="2743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" name="Text 88"/>
          <p:cNvSpPr/>
          <p:nvPr/>
        </p:nvSpPr>
        <p:spPr>
          <a:xfrm>
            <a:off x="347472" y="119756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Phase</a:t>
            </a:r>
            <a:endParaRPr lang="en-US" sz="950"/>
          </a:p>
        </p:txBody>
      </p:sp>
      <p:sp>
        <p:nvSpPr>
          <p:cNvPr id="91" name="Shape 89"/>
          <p:cNvSpPr/>
          <p:nvPr/>
        </p:nvSpPr>
        <p:spPr>
          <a:xfrm>
            <a:off x="2542032" y="1197562"/>
            <a:ext cx="1645920" cy="2743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2" name="Text 90"/>
          <p:cNvSpPr/>
          <p:nvPr/>
        </p:nvSpPr>
        <p:spPr>
          <a:xfrm>
            <a:off x="2542032" y="119756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Active Modality</a:t>
            </a:r>
            <a:endParaRPr lang="en-US" sz="950"/>
          </a:p>
        </p:txBody>
      </p:sp>
      <p:sp>
        <p:nvSpPr>
          <p:cNvPr id="93" name="Shape 91"/>
          <p:cNvSpPr/>
          <p:nvPr/>
        </p:nvSpPr>
        <p:spPr>
          <a:xfrm>
            <a:off x="4187952" y="1197562"/>
            <a:ext cx="1828800" cy="2743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4" name="Text 92"/>
          <p:cNvSpPr/>
          <p:nvPr/>
        </p:nvSpPr>
        <p:spPr>
          <a:xfrm>
            <a:off x="4187952" y="119756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Mean ATE (m)</a:t>
            </a:r>
            <a:endParaRPr lang="en-US" sz="950"/>
          </a:p>
        </p:txBody>
      </p:sp>
      <p:sp>
        <p:nvSpPr>
          <p:cNvPr id="95" name="Shape 93"/>
          <p:cNvSpPr/>
          <p:nvPr/>
        </p:nvSpPr>
        <p:spPr>
          <a:xfrm>
            <a:off x="6016752" y="1197562"/>
            <a:ext cx="2560320" cy="2743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" name="Text 94"/>
          <p:cNvSpPr/>
          <p:nvPr/>
        </p:nvSpPr>
        <p:spPr>
          <a:xfrm>
            <a:off x="6016752" y="119756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Mean RPE (m/s)</a:t>
            </a:r>
            <a:endParaRPr lang="en-US" sz="950"/>
          </a:p>
        </p:txBody>
      </p:sp>
      <p:sp>
        <p:nvSpPr>
          <p:cNvPr id="97" name="Shape 95"/>
          <p:cNvSpPr/>
          <p:nvPr/>
        </p:nvSpPr>
        <p:spPr>
          <a:xfrm>
            <a:off x="347472" y="1471882"/>
            <a:ext cx="2194560" cy="256032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8" name="Text 96"/>
          <p:cNvSpPr/>
          <p:nvPr/>
        </p:nvSpPr>
        <p:spPr>
          <a:xfrm>
            <a:off x="420624" y="147188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E3540"/>
                </a:solidFill>
              </a:rPr>
              <a:t>Pre-Blackout (0–45 s)</a:t>
            </a:r>
            <a:endParaRPr lang="en-US" sz="950"/>
          </a:p>
        </p:txBody>
      </p:sp>
      <p:sp>
        <p:nvSpPr>
          <p:cNvPr id="99" name="Shape 97"/>
          <p:cNvSpPr/>
          <p:nvPr/>
        </p:nvSpPr>
        <p:spPr>
          <a:xfrm>
            <a:off x="2542032" y="1471882"/>
            <a:ext cx="1645920" cy="256032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0" name="Text 98"/>
          <p:cNvSpPr/>
          <p:nvPr/>
        </p:nvSpPr>
        <p:spPr>
          <a:xfrm>
            <a:off x="2542032" y="147188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E3540"/>
                </a:solidFill>
              </a:rPr>
              <a:t>LiDAR + RGB-D</a:t>
            </a:r>
            <a:endParaRPr lang="en-US" sz="950"/>
          </a:p>
        </p:txBody>
      </p:sp>
      <p:sp>
        <p:nvSpPr>
          <p:cNvPr id="101" name="Shape 99"/>
          <p:cNvSpPr/>
          <p:nvPr/>
        </p:nvSpPr>
        <p:spPr>
          <a:xfrm>
            <a:off x="4187952" y="1471882"/>
            <a:ext cx="1828800" cy="256032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2" name="Text 100"/>
          <p:cNvSpPr/>
          <p:nvPr/>
        </p:nvSpPr>
        <p:spPr>
          <a:xfrm>
            <a:off x="4187952" y="147188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E3540"/>
                </a:solidFill>
              </a:rPr>
              <a:t>0.024</a:t>
            </a:r>
            <a:endParaRPr lang="en-US" sz="950"/>
          </a:p>
        </p:txBody>
      </p:sp>
      <p:sp>
        <p:nvSpPr>
          <p:cNvPr id="103" name="Shape 101"/>
          <p:cNvSpPr/>
          <p:nvPr/>
        </p:nvSpPr>
        <p:spPr>
          <a:xfrm>
            <a:off x="6016752" y="1471882"/>
            <a:ext cx="2560320" cy="256032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4" name="Text 102"/>
          <p:cNvSpPr/>
          <p:nvPr/>
        </p:nvSpPr>
        <p:spPr>
          <a:xfrm>
            <a:off x="6016752" y="147188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E3540"/>
                </a:solidFill>
              </a:rPr>
              <a:t>0.014</a:t>
            </a:r>
            <a:endParaRPr lang="en-US" sz="950"/>
          </a:p>
        </p:txBody>
      </p:sp>
      <p:sp>
        <p:nvSpPr>
          <p:cNvPr id="105" name="Shape 103"/>
          <p:cNvSpPr/>
          <p:nvPr/>
        </p:nvSpPr>
        <p:spPr>
          <a:xfrm>
            <a:off x="347472" y="1727914"/>
            <a:ext cx="2194560" cy="256032"/>
          </a:xfrm>
          <a:prstGeom prst="rect">
            <a:avLst/>
          </a:prstGeom>
          <a:solidFill>
            <a:srgbClr val="FFF8E1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6" name="Text 104"/>
          <p:cNvSpPr/>
          <p:nvPr/>
        </p:nvSpPr>
        <p:spPr>
          <a:xfrm>
            <a:off x="420624" y="172791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E3540"/>
                </a:solidFill>
              </a:rPr>
              <a:t>Blackout Transition</a:t>
            </a:r>
            <a:endParaRPr lang="en-US" sz="950"/>
          </a:p>
        </p:txBody>
      </p:sp>
      <p:sp>
        <p:nvSpPr>
          <p:cNvPr id="107" name="Shape 105"/>
          <p:cNvSpPr/>
          <p:nvPr/>
        </p:nvSpPr>
        <p:spPr>
          <a:xfrm>
            <a:off x="2542032" y="1727914"/>
            <a:ext cx="1645920" cy="256032"/>
          </a:xfrm>
          <a:prstGeom prst="rect">
            <a:avLst/>
          </a:prstGeom>
          <a:solidFill>
            <a:srgbClr val="FFF8E1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8" name="Text 106"/>
          <p:cNvSpPr/>
          <p:nvPr/>
        </p:nvSpPr>
        <p:spPr>
          <a:xfrm>
            <a:off x="2542032" y="172791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E3540"/>
                </a:solidFill>
              </a:rPr>
              <a:t>ICP fallback</a:t>
            </a:r>
            <a:endParaRPr lang="en-US" sz="950"/>
          </a:p>
        </p:txBody>
      </p:sp>
      <p:sp>
        <p:nvSpPr>
          <p:cNvPr id="109" name="Shape 107"/>
          <p:cNvSpPr/>
          <p:nvPr/>
        </p:nvSpPr>
        <p:spPr>
          <a:xfrm>
            <a:off x="4187952" y="1727914"/>
            <a:ext cx="1828800" cy="256032"/>
          </a:xfrm>
          <a:prstGeom prst="rect">
            <a:avLst/>
          </a:prstGeom>
          <a:solidFill>
            <a:srgbClr val="FFF8E1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0" name="Text 108"/>
          <p:cNvSpPr/>
          <p:nvPr/>
        </p:nvSpPr>
        <p:spPr>
          <a:xfrm>
            <a:off x="4187952" y="172791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E3540"/>
                </a:solidFill>
              </a:rPr>
              <a:t>0.038</a:t>
            </a:r>
            <a:endParaRPr lang="en-US" sz="950"/>
          </a:p>
        </p:txBody>
      </p:sp>
      <p:sp>
        <p:nvSpPr>
          <p:cNvPr id="111" name="Shape 109"/>
          <p:cNvSpPr/>
          <p:nvPr/>
        </p:nvSpPr>
        <p:spPr>
          <a:xfrm>
            <a:off x="6016752" y="1727914"/>
            <a:ext cx="2560320" cy="256032"/>
          </a:xfrm>
          <a:prstGeom prst="rect">
            <a:avLst/>
          </a:prstGeom>
          <a:solidFill>
            <a:srgbClr val="FFF8E1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2" name="Text 110"/>
          <p:cNvSpPr/>
          <p:nvPr/>
        </p:nvSpPr>
        <p:spPr>
          <a:xfrm>
            <a:off x="6016752" y="172791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E3540"/>
                </a:solidFill>
              </a:rPr>
              <a:t>0.047</a:t>
            </a:r>
            <a:endParaRPr lang="en-US" sz="950"/>
          </a:p>
        </p:txBody>
      </p:sp>
      <p:sp>
        <p:nvSpPr>
          <p:cNvPr id="113" name="Shape 111"/>
          <p:cNvSpPr/>
          <p:nvPr/>
        </p:nvSpPr>
        <p:spPr>
          <a:xfrm>
            <a:off x="347472" y="1983946"/>
            <a:ext cx="2194560" cy="256032"/>
          </a:xfrm>
          <a:prstGeom prst="rect">
            <a:avLst/>
          </a:prstGeom>
          <a:solidFill>
            <a:srgbClr val="F4F9FA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4" name="Text 112"/>
          <p:cNvSpPr/>
          <p:nvPr/>
        </p:nvSpPr>
        <p:spPr>
          <a:xfrm>
            <a:off x="420624" y="198394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E3540"/>
                </a:solidFill>
              </a:rPr>
              <a:t>During Blackout (45–110 s)</a:t>
            </a:r>
            <a:endParaRPr lang="en-US" sz="950"/>
          </a:p>
        </p:txBody>
      </p:sp>
      <p:sp>
        <p:nvSpPr>
          <p:cNvPr id="115" name="Shape 113"/>
          <p:cNvSpPr/>
          <p:nvPr/>
        </p:nvSpPr>
        <p:spPr>
          <a:xfrm>
            <a:off x="2542032" y="1983946"/>
            <a:ext cx="1645920" cy="256032"/>
          </a:xfrm>
          <a:prstGeom prst="rect">
            <a:avLst/>
          </a:prstGeom>
          <a:solidFill>
            <a:srgbClr val="F4F9FA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6" name="Text 114"/>
          <p:cNvSpPr/>
          <p:nvPr/>
        </p:nvSpPr>
        <p:spPr>
          <a:xfrm>
            <a:off x="2542032" y="198394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E3540"/>
                </a:solidFill>
              </a:rPr>
              <a:t>LiDAR (ICP)</a:t>
            </a:r>
            <a:endParaRPr lang="en-US" sz="950"/>
          </a:p>
        </p:txBody>
      </p:sp>
      <p:sp>
        <p:nvSpPr>
          <p:cNvPr id="117" name="Shape 115"/>
          <p:cNvSpPr/>
          <p:nvPr/>
        </p:nvSpPr>
        <p:spPr>
          <a:xfrm>
            <a:off x="4187952" y="1983946"/>
            <a:ext cx="1828800" cy="256032"/>
          </a:xfrm>
          <a:prstGeom prst="rect">
            <a:avLst/>
          </a:prstGeom>
          <a:solidFill>
            <a:srgbClr val="F4F9FA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8" name="Text 116"/>
          <p:cNvSpPr/>
          <p:nvPr/>
        </p:nvSpPr>
        <p:spPr>
          <a:xfrm>
            <a:off x="4187952" y="198394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E3540"/>
                </a:solidFill>
              </a:rPr>
              <a:t>0.039</a:t>
            </a:r>
            <a:endParaRPr lang="en-US" sz="950"/>
          </a:p>
        </p:txBody>
      </p:sp>
      <p:sp>
        <p:nvSpPr>
          <p:cNvPr id="119" name="Shape 117"/>
          <p:cNvSpPr/>
          <p:nvPr/>
        </p:nvSpPr>
        <p:spPr>
          <a:xfrm>
            <a:off x="6016752" y="1983946"/>
            <a:ext cx="2560320" cy="256032"/>
          </a:xfrm>
          <a:prstGeom prst="rect">
            <a:avLst/>
          </a:prstGeom>
          <a:solidFill>
            <a:srgbClr val="F4F9FA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0" name="Text 118"/>
          <p:cNvSpPr/>
          <p:nvPr/>
        </p:nvSpPr>
        <p:spPr>
          <a:xfrm>
            <a:off x="6016752" y="198394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E3540"/>
                </a:solidFill>
              </a:rPr>
              <a:t>0.022</a:t>
            </a:r>
            <a:endParaRPr lang="en-US" sz="950"/>
          </a:p>
        </p:txBody>
      </p:sp>
      <p:sp>
        <p:nvSpPr>
          <p:cNvPr id="121" name="Shape 119"/>
          <p:cNvSpPr/>
          <p:nvPr/>
        </p:nvSpPr>
        <p:spPr>
          <a:xfrm>
            <a:off x="347472" y="2239978"/>
            <a:ext cx="2194560" cy="256032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2" name="Text 120"/>
          <p:cNvSpPr/>
          <p:nvPr/>
        </p:nvSpPr>
        <p:spPr>
          <a:xfrm>
            <a:off x="420624" y="223997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1E3540"/>
                </a:solidFill>
              </a:rPr>
              <a:t>Overall Degradation</a:t>
            </a:r>
            <a:endParaRPr lang="en-US" sz="950"/>
          </a:p>
        </p:txBody>
      </p:sp>
      <p:sp>
        <p:nvSpPr>
          <p:cNvPr id="123" name="Shape 121"/>
          <p:cNvSpPr/>
          <p:nvPr/>
        </p:nvSpPr>
        <p:spPr>
          <a:xfrm>
            <a:off x="2542032" y="2239978"/>
            <a:ext cx="1645920" cy="256032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4" name="Text 122"/>
          <p:cNvSpPr/>
          <p:nvPr/>
        </p:nvSpPr>
        <p:spPr>
          <a:xfrm>
            <a:off x="2542032" y="223997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E3540"/>
                </a:solidFill>
              </a:rPr>
              <a:t>—</a:t>
            </a:r>
            <a:endParaRPr lang="en-US" sz="950"/>
          </a:p>
        </p:txBody>
      </p:sp>
      <p:sp>
        <p:nvSpPr>
          <p:cNvPr id="125" name="Shape 123"/>
          <p:cNvSpPr/>
          <p:nvPr/>
        </p:nvSpPr>
        <p:spPr>
          <a:xfrm>
            <a:off x="4187952" y="2239978"/>
            <a:ext cx="1828800" cy="256032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6" name="Text 124"/>
          <p:cNvSpPr/>
          <p:nvPr/>
        </p:nvSpPr>
        <p:spPr>
          <a:xfrm>
            <a:off x="4187952" y="223997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E3540"/>
                </a:solidFill>
              </a:rPr>
              <a:t>Δ +0.015 m</a:t>
            </a:r>
            <a:endParaRPr lang="en-US" sz="950"/>
          </a:p>
        </p:txBody>
      </p:sp>
      <p:sp>
        <p:nvSpPr>
          <p:cNvPr id="127" name="Shape 125"/>
          <p:cNvSpPr/>
          <p:nvPr/>
        </p:nvSpPr>
        <p:spPr>
          <a:xfrm>
            <a:off x="6016752" y="2239978"/>
            <a:ext cx="2560320" cy="256032"/>
          </a:xfrm>
          <a:prstGeom prst="rect">
            <a:avLst/>
          </a:prstGeom>
          <a:solidFill>
            <a:srgbClr val="E8F5F0"/>
          </a:solidFill>
          <a:ln w="6350">
            <a:solidFill>
              <a:srgbClr val="C4D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8" name="Text 126"/>
          <p:cNvSpPr/>
          <p:nvPr/>
        </p:nvSpPr>
        <p:spPr>
          <a:xfrm>
            <a:off x="6016752" y="223997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E3540"/>
                </a:solidFill>
              </a:rPr>
              <a:t>Δ +0.008 m/s</a:t>
            </a:r>
            <a:endParaRPr lang="en-US" sz="95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124720C-A1EA-2526-0EC6-C968FE308F1B}"/>
              </a:ext>
            </a:extLst>
          </p:cNvPr>
          <p:cNvSpPr/>
          <p:nvPr/>
        </p:nvSpPr>
        <p:spPr>
          <a:xfrm>
            <a:off x="347472" y="125714"/>
            <a:ext cx="173736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pPr lvl="1"/>
            <a:r>
              <a:rPr lang="en-US" sz="900" b="1">
                <a:solidFill>
                  <a:srgbClr val="FFFFFF"/>
                </a:solidFill>
              </a:rPr>
              <a:t>RESULTS</a:t>
            </a:r>
            <a:endParaRPr lang="de-DE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CHALLENGES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Encountered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19456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145480" y="1424836"/>
            <a:ext cx="41148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b="1">
                <a:solidFill>
                  <a:srgbClr val="5A7A84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9" name="Text 7"/>
          <p:cNvSpPr/>
          <p:nvPr/>
        </p:nvSpPr>
        <p:spPr>
          <a:xfrm>
            <a:off x="1516617" y="1422977"/>
            <a:ext cx="4474144" cy="40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>
                <a:solidFill>
                  <a:srgbClr val="1E3540"/>
                </a:solidFill>
              </a:rPr>
              <a:t>Timestamp Synchronization</a:t>
            </a:r>
            <a:endParaRPr lang="en-US" sz="16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51160" y="2058672"/>
            <a:ext cx="41148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b="1">
                <a:solidFill>
                  <a:srgbClr val="5A7A84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14" name="Text 12"/>
          <p:cNvSpPr/>
          <p:nvPr/>
        </p:nvSpPr>
        <p:spPr>
          <a:xfrm>
            <a:off x="1518213" y="1989749"/>
            <a:ext cx="417166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>
                <a:solidFill>
                  <a:srgbClr val="1E3540"/>
                </a:solidFill>
              </a:rPr>
              <a:t>LiDAR-Only Loop Closure Saturation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1155166" y="2568613"/>
            <a:ext cx="41148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b="1">
                <a:solidFill>
                  <a:srgbClr val="5A7A84"/>
                </a:solidFill>
                <a:ea typeface="Calibri"/>
                <a:cs typeface="Calibri"/>
              </a:rPr>
              <a:t>3</a:t>
            </a:r>
            <a:endParaRPr lang="en-US" sz="1800" b="1">
              <a:solidFill>
                <a:srgbClr val="5A7A84"/>
              </a:solidFill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513563" y="2568457"/>
            <a:ext cx="3207761" cy="334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>
                <a:solidFill>
                  <a:srgbClr val="1E3540"/>
                </a:solidFill>
              </a:rPr>
              <a:t>RTAB-Map Database Corruption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1148966" y="3091680"/>
            <a:ext cx="41148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b="1">
                <a:solidFill>
                  <a:srgbClr val="5A7A84"/>
                </a:solidFill>
              </a:rPr>
              <a:t>4</a:t>
            </a:r>
            <a:endParaRPr lang="en-US" sz="1800" b="1">
              <a:solidFill>
                <a:srgbClr val="5A7A84"/>
              </a:solidFill>
              <a:ea typeface="Calibri"/>
              <a:cs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555796" y="3149643"/>
            <a:ext cx="3837380" cy="2376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0000"/>
              </a:lnSpc>
            </a:pPr>
            <a:r>
              <a:rPr lang="en-US" sz="1600" b="1">
                <a:solidFill>
                  <a:srgbClr val="1E3540"/>
                </a:solidFill>
              </a:rPr>
              <a:t>Computational Load (ICP Density)</a:t>
            </a:r>
            <a:endParaRPr lang="en-US" sz="16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CONCLUSION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30352" y="14813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B7285"/>
                </a:solidFill>
              </a:rPr>
              <a:t>01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1097280" y="14813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6070"/>
                </a:solidFill>
              </a:rPr>
              <a:t>Fusion Wins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30352" y="189280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3540"/>
                </a:solidFill>
              </a:rPr>
              <a:t>Multi-modal (LiDAR + RGB-D + IMU) achieved the highest overall viability score of 22, outperforming all single-sensor baselines.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4754880" y="1389888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919472" y="14813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B7285"/>
                </a:solidFill>
              </a:rPr>
              <a:t>02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>
          <a:xfrm>
            <a:off x="5486400" y="14813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6070"/>
                </a:solidFill>
              </a:rPr>
              <a:t>Complementary Strengths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4919472" y="189280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3540"/>
                </a:solidFill>
              </a:rPr>
              <a:t>LiDAR provides stable geometric constraints under poor lighting; RGB-D delivers dense motion estimation covering each other's weaknesses.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30352" y="305409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B7285"/>
                </a:solidFill>
              </a:rPr>
              <a:t>03</a:t>
            </a:r>
            <a:endParaRPr lang="en-US" sz="2200"/>
          </a:p>
        </p:txBody>
      </p:sp>
      <p:sp>
        <p:nvSpPr>
          <p:cNvPr id="17" name="Text 15"/>
          <p:cNvSpPr/>
          <p:nvPr/>
        </p:nvSpPr>
        <p:spPr>
          <a:xfrm>
            <a:off x="1097280" y="305409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6070"/>
                </a:solidFill>
              </a:rPr>
              <a:t>Graceful Degradation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530352" y="3465576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3540"/>
                </a:solidFill>
              </a:rPr>
              <a:t>The Proxy Architecture survived a complete visual blackout by autonomously shifting to ICP, no map fragmentation or trajectory jumps.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4754880" y="2962656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919472" y="305409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B7285"/>
                </a:solidFill>
              </a:rPr>
              <a:t>04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5486400" y="305409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6070"/>
                </a:solidFill>
              </a:rPr>
              <a:t>LiDAR-Only Limitations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4919472" y="3465576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3540"/>
                </a:solidFill>
              </a:rPr>
              <a:t>Geometry only SLAM over-saturates the Graph-SLAM optimizer with false-positive loop closures in repetitive warehouse environments.</a:t>
            </a:r>
            <a:endParaRPr lang="en-US" sz="10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B34660DE-B14D-F034-F93C-FF7627FC454B}"/>
              </a:ext>
            </a:extLst>
          </p:cNvPr>
          <p:cNvSpPr/>
          <p:nvPr/>
        </p:nvSpPr>
        <p:spPr>
          <a:xfrm>
            <a:off x="365760" y="370484"/>
            <a:ext cx="1737360" cy="29260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pPr lvl="1"/>
            <a:r>
              <a:rPr lang="en-GB" sz="1000" b="1" noProof="0">
                <a:solidFill>
                  <a:srgbClr val="FFFFFF"/>
                </a:solidFill>
              </a:rPr>
              <a:t>SOURCE CODE</a:t>
            </a:r>
            <a:endParaRPr lang="en-GB" sz="1000" noProof="0"/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F66232CA-4EB9-1EDA-A941-EABCF20C8560}"/>
              </a:ext>
            </a:extLst>
          </p:cNvPr>
          <p:cNvSpPr txBox="1"/>
          <p:nvPr/>
        </p:nvSpPr>
        <p:spPr>
          <a:xfrm>
            <a:off x="955068" y="1291394"/>
            <a:ext cx="67795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>
                <a:solidFill>
                  <a:schemeClr val="tx2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link Hosting the Project source code, Report, presentations and demo video is </a:t>
            </a:r>
          </a:p>
          <a:p>
            <a:endParaRPr lang="en-GB" dirty="0">
              <a:solidFill>
                <a:schemeClr val="tx2">
                  <a:lumMod val="75000"/>
                </a:schemeClr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GB" noProof="0" dirty="0">
              <a:solidFill>
                <a:schemeClr val="tx2">
                  <a:lumMod val="75000"/>
                </a:schemeClr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GB" noProof="0">
                <a:solidFill>
                  <a:schemeClr val="tx2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https://github.com/karthikprabu810/sensor-fusion</a:t>
            </a:r>
            <a:endParaRPr lang="en-GB" noProof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feld 2">
            <a:extLst>
              <a:ext uri="{FF2B5EF4-FFF2-40B4-BE49-F238E27FC236}">
                <a16:creationId xmlns:a16="http://schemas.microsoft.com/office/drawing/2014/main" id="{3754F17B-B7D3-249D-2F47-7F34993438B4}"/>
              </a:ext>
            </a:extLst>
          </p:cNvPr>
          <p:cNvSpPr txBox="1"/>
          <p:nvPr/>
        </p:nvSpPr>
        <p:spPr>
          <a:xfrm>
            <a:off x="3062608" y="3119143"/>
            <a:ext cx="6779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noProof="0">
                <a:solidFill>
                  <a:schemeClr val="tx2">
                    <a:lumMod val="75000"/>
                  </a:schemeClr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00bb0bc-901d-4a61-aba0-469604cc621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6FE8E8FA65664DA02B8CF90F301EEF" ma:contentTypeVersion="10" ma:contentTypeDescription="Create a new document." ma:contentTypeScope="" ma:versionID="cf75ae5c36b6bccf1977908e623f99d0">
  <xsd:schema xmlns:xsd="http://www.w3.org/2001/XMLSchema" xmlns:xs="http://www.w3.org/2001/XMLSchema" xmlns:p="http://schemas.microsoft.com/office/2006/metadata/properties" xmlns:ns3="700bb0bc-901d-4a61-aba0-469604cc6217" targetNamespace="http://schemas.microsoft.com/office/2006/metadata/properties" ma:root="true" ma:fieldsID="58a49646eb5a6b79362dbfc7957d3633" ns3:_="">
    <xsd:import namespace="700bb0bc-901d-4a61-aba0-469604cc621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bb0bc-901d-4a61-aba0-469604cc621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D7B847-16F9-465A-9330-478109391E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26C039-17AA-4531-8569-658973BD7D11}">
  <ds:schemaRefs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700bb0bc-901d-4a61-aba0-469604cc6217"/>
    <ds:schemaRef ds:uri="http://schemas.microsoft.com/office/2006/documentManagement/typ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E8AD28F-FC56-4EFE-A7BA-6DF7B869A23C}">
  <ds:schemaRefs>
    <ds:schemaRef ds:uri="700bb0bc-901d-4a61-aba0-469604cc62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1214</Words>
  <Application>Microsoft Office PowerPoint</Application>
  <PresentationFormat>On-screen Show (16:9)</PresentationFormat>
  <Paragraphs>267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Multi-Modal SLAM Fusion</dc:title>
  <dc:subject>PptxGenJS Presentation</dc:subject>
  <dc:creator>PptxGenJS</dc:creator>
  <cp:lastModifiedBy>Natarajan, Karthik Prabu</cp:lastModifiedBy>
  <cp:revision>1</cp:revision>
  <dcterms:created xsi:type="dcterms:W3CDTF">2026-03-19T01:15:25Z</dcterms:created>
  <dcterms:modified xsi:type="dcterms:W3CDTF">2026-03-19T22:41:20Z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0x010100F16FE8E8FA65664DA02B8CF90F301EEF</vt:lpwstr>
  </property>
</Properties>
</file>